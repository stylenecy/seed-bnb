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1" r:id="rId7"/>
    <p:sldId id="265" r:id="rId11"/>
    <p:sldId id="268" r:id="rId12"/>
    <p:sldId id="269" r:id="rId10"/>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10" Type="http://schemas.openxmlformats.org/officeDocument/2006/relationships/slide" Target="slides/slide7.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[~10s]</a:t>
            </a:r>
          </a:p>
          <a:p>
            <a:r>
              <a:t>This is Cermin — Bitcoin banking that runs itself. Put in your BTC, live off the cash it makes, and never get liquidated. Here's 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[~20s]</a:t>
            </a:r>
          </a:p>
          <a:p>
            <a:r>
              <a:t>Bitcoin holders are stuck. Sell, you lose the upside. Hold, you have no cash. Mezo lets you borrow dollars against your BTC at 1% — but then you manage everything yourself, all day. Most people get it wrong, or get liquidated.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[~25s]</a:t>
            </a:r>
          </a:p>
          <a:p>
            <a:r>
              <a:t>Cermin does it for you. Put in your BTC once and pick a setting. It borrows at 1%, earns about 5%, and pays you the difference — around $167 a month per Bitcoin. Your BTC is never sold; you just spend the dollars.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[~30s]</a:t>
            </a:r>
          </a:p>
          <a:p>
            <a:r>
              <a:t>It only does two things. When BTC goes up, it turns the new room into cash plus yield, without selling any BTC. When BTC goes down, it repays debt early so you stay safe. It runs on-chain by itself, and anyone can trigger the defense — so you're safe even if we're offline. Two contracts, one keeper. That's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[~18s]</a:t>
            </a:r>
          </a:p>
          <a:p>
            <a:r>
              <a:t>Here's the proof. A real dashboard: BTC locked, dollars to spend. And the real history: five automatic defenses, zero liquidations. Every one is on-chain — you can check the links.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[~18s]</a:t>
            </a:r>
          </a:p>
          <a:p>
            <a:r>
              <a:t>And it's real. Last month BTC dropped 15%. Every time it got close to the danger line, Cermin repaid debt and pulled it back. It never came near liquidation. This is live on Mezo's test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[~18s]</a:t>
            </a:r>
          </a:p>
          <a:p>
            <a:r>
              <a:t>Normal DeFi makes you do all the work — the math, the watching, the worry. Cermin does it for you. The big one: it defends itself, so you don't get liquidated. A spreadsheet becomes a bank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[~12s]</a:t>
            </a:r>
          </a:p>
          <a:p>
            <a:r>
              <a:t>Your BTC stays whole. The dollars are what you live on. And it can't be liquidated out from under you. Try it at cermin-gamma.vercel.app.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B17"/>
        </a:solidFill>
      </p:bgPr>
    </p:bg>
    <p:spTree>
      <p:nvGrpSpPr>
        <p:cNvPr id="1" name=""/>
        <p:cNvGrpSpPr/>
        <p:nvPr/>
      </p:nvGrpSpPr>
      <p:grpSpPr>
        <a:xfrm>
          <a:off x="0" y="0"/>
          <a:ext cx="0" cy="0"/>
          <a:chOff x="0" y="0"/>
          <a:chExt cx="0" cy="0"/>
        </a:xfrm>
      </p:grpSpPr>
      <p:pic>
        <p:nvPicPr>
          <p:cNvPr id="2" name="Image 0" descr="/sessions/kind-sharp-feynman/mnt/outputs/deck/img/hero.pn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F1B17">
              <a:alpha val="62000"/>
            </a:srgbClr>
          </a:solidFill>
          <a:ln/>
        </p:spPr>
        <p:txBody>
          <a:bodyPr/>
          <a:p/>
        </p:txBody>
      </p:sp>
      <p:sp>
        <p:nvSpPr>
          <p:cNvPr id="4" name="Shape 1"/>
          <p:cNvSpPr/>
          <p:nvPr/>
        </p:nvSpPr>
        <p:spPr>
          <a:xfrm>
            <a:off x="0" y="4297680"/>
            <a:ext cx="12188952" cy="2560320"/>
          </a:xfrm>
          <a:prstGeom prst="rect">
            <a:avLst/>
          </a:prstGeom>
          <a:solidFill>
            <a:srgbClr val="1F1B17">
              <a:alpha val="78000"/>
            </a:srgbClr>
          </a:solidFill>
          <a:ln/>
        </p:spPr>
        <p:txBody>
          <a:bodyPr/>
          <a:p/>
        </p:txBody>
      </p:sp>
      <p:pic>
        <p:nvPicPr>
          <p:cNvPr id="5" name="Image 1" descr="/sessions/kind-sharp-feynman/mnt/outputs/deck/img/logo_cream.png">    </p:cNvPr>
          <p:cNvPicPr>
            <a:picLocks noChangeAspect="1"/>
          </p:cNvPicPr>
          <p:nvPr/>
        </p:nvPicPr>
        <p:blipFill>
          <a:blip r:embed="rId2"/>
          <a:stretch>
            <a:fillRect/>
          </a:stretch>
        </p:blipFill>
        <p:spPr>
          <a:xfrm>
            <a:off x="777240" y="640080"/>
            <a:ext cx="868680" cy="914400"/>
          </a:xfrm>
          <a:prstGeom prst="rect">
            <a:avLst/>
          </a:prstGeom>
        </p:spPr>
      </p:pic>
      <p:sp>
        <p:nvSpPr>
          <p:cNvPr id="6" name="Text 2"/>
          <p:cNvSpPr/>
          <p:nvPr/>
        </p:nvSpPr>
        <p:spPr>
          <a:xfrm>
            <a:off x="1783080" y="841248"/>
            <a:ext cx="4572000" cy="548640"/>
          </a:xfrm>
          <a:prstGeom prst="rect">
            <a:avLst/>
          </a:prstGeom>
          <a:noFill/>
          <a:ln/>
        </p:spPr>
        <p:txBody>
          <a:bodyPr wrap="square" lIns="0" tIns="0" rIns="0" bIns="0" rtlCol="0" anchor="ctr"/>
          <a:lstStyle/>
          <a:p>
            <a:pPr indent="0" marL="0">
              <a:buNone/>
            </a:pPr>
            <a:r>
              <a:rPr lang="en-US" sz="3000" b="1" spc="200" kern="0" dirty="0">
                <a:solidFill>
                  <a:srgbClr val="FDFBF7"/>
                </a:solidFill>
                <a:latin typeface="Fraunces" pitchFamily="34" charset="0"/>
                <a:ea typeface="Fraunces" pitchFamily="34" charset="-122"/>
                <a:cs typeface="Fraunces" pitchFamily="34" charset="-120"/>
              </a:rPr>
              <a:t>CERMIN</a:t>
            </a:r>
            <a:endParaRPr lang="en-US" sz="3000" dirty="0"/>
          </a:p>
        </p:txBody>
      </p:sp>
      <p:sp>
        <p:nvSpPr>
          <p:cNvPr id="7" name="Text 3"/>
          <p:cNvSpPr/>
          <p:nvPr/>
        </p:nvSpPr>
        <p:spPr>
          <a:xfrm>
            <a:off x="777240" y="4480560"/>
            <a:ext cx="10607040" cy="822960"/>
          </a:xfrm>
          <a:prstGeom prst="rect">
            <a:avLst/>
          </a:prstGeom>
          <a:noFill/>
          <a:ln/>
        </p:spPr>
        <p:txBody>
          <a:bodyPr wrap="square" rtlCol="0" anchor="ctr"/>
          <a:lstStyle/>
          <a:p>
            <a:pPr algn="l" indent="0" marL="0">
              <a:buNone/>
            </a:pPr>
            <a:r>
              <a:rPr lang="en-US" sz="4200" i="1" dirty="0">
                <a:solidFill>
                  <a:srgbClr val="FDFBF7"/>
                </a:solidFill>
                <a:latin typeface="Fraunces" pitchFamily="34" charset="0"/>
                <a:ea typeface="Fraunces" pitchFamily="34" charset="-122"/>
                <a:cs typeface="Fraunces" pitchFamily="34" charset="-120"/>
              </a:rPr>
              <a:t>Self-driving Bitcoin banking on Mezo</a:t>
            </a:r>
            <a:endParaRPr lang="en-US" sz="4200" dirty="0"/>
          </a:p>
        </p:txBody>
      </p:sp>
      <p:sp>
        <p:nvSpPr>
          <p:cNvPr id="8" name="Text 4"/>
          <p:cNvSpPr/>
          <p:nvPr/>
        </p:nvSpPr>
        <p:spPr>
          <a:xfrm>
            <a:off x="795528" y="5440680"/>
            <a:ext cx="10607040" cy="457200"/>
          </a:xfrm>
          <a:prstGeom prst="rect">
            <a:avLst/>
          </a:prstGeom>
          <a:noFill/>
          <a:ln/>
        </p:spPr>
        <p:txBody>
          <a:bodyPr wrap="square" rtlCol="0" anchor="ctr"/>
          <a:lstStyle/>
          <a:p>
            <a:pPr indent="0" marL="0">
              <a:buNone/>
            </a:pPr>
            <a:r>
              <a:rPr lang="en-US" sz="1700" dirty="0">
                <a:solidFill>
                  <a:srgbClr val="FAF6F0"/>
                </a:solidFill>
                <a:latin typeface="Geist" pitchFamily="34" charset="0"/>
                <a:ea typeface="Geist" pitchFamily="34" charset="-122"/>
                <a:cs typeface="Geist" pitchFamily="34" charset="-120"/>
              </a:rPr>
              <a:t>Your BTC stays whole. The Shadow is what you live on.</a:t>
            </a:r>
            <a:endParaRPr lang="en-US" sz="1700" dirty="0"/>
          </a:p>
        </p:txBody>
      </p:sp>
      <p:sp>
        <p:nvSpPr>
          <p:cNvPr id="9" name="Text 5"/>
          <p:cNvSpPr/>
          <p:nvPr/>
        </p:nvSpPr>
        <p:spPr>
          <a:xfrm>
            <a:off x="795528" y="6035040"/>
            <a:ext cx="10607040" cy="365760"/>
          </a:xfrm>
          <a:prstGeom prst="rect">
            <a:avLst/>
          </a:prstGeom>
          <a:noFill/>
          <a:ln/>
        </p:spPr>
        <p:txBody>
          <a:bodyPr wrap="square" rtlCol="0" anchor="ctr"/>
          <a:lstStyle/>
          <a:p>
            <a:pPr indent="0" marL="0">
              <a:buNone/>
            </a:pPr>
            <a:r>
              <a:rPr lang="en-US" sz="1200" b="1" spc="200" kern="0" dirty="0">
                <a:solidFill>
                  <a:srgbClr val="CE8E50"/>
                </a:solidFill>
                <a:latin typeface="Geist" pitchFamily="34" charset="0"/>
                <a:ea typeface="Geist" pitchFamily="34" charset="-122"/>
                <a:cs typeface="Geist" pitchFamily="34" charset="-120"/>
              </a:rPr>
              <a:t>Supernormal Foundation  ×  Mezo Hackathon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p:bgPr>
    </p:bg>
    <p:spTree>
      <p:nvGrpSpPr>
        <p:cNvPr id="1" name=""/>
        <p:cNvGrpSpPr/>
        <p:nvPr/>
      </p:nvGrpSpPr>
      <p:grpSpPr>
        <a:xfrm>
          <a:off x="0" y="0"/>
          <a:ext cx="0" cy="0"/>
          <a:chOff x="0" y="0"/>
          <a:chExt cx="0" cy="0"/>
        </a:xfrm>
      </p:grpSpPr>
      <p:pic>
        <p:nvPicPr>
          <p:cNvPr id="2" name="Image 0" descr="/sessions/kind-sharp-feynman/mnt/outputs/deck/img/night.png">    </p:cNvPr>
          <p:cNvPicPr>
            <a:picLocks noChangeAspect="1"/>
          </p:cNvPicPr>
          <p:nvPr/>
        </p:nvPicPr>
        <p:blipFill>
          <a:blip r:embed="rId1"/>
          <a:srcRect l="0" r="0" t="0" b="0"/>
          <a:stretch/>
        </p:blipFill>
        <p:spPr>
          <a:xfrm>
            <a:off x="7498080" y="0"/>
            <a:ext cx="4690872" cy="6858000"/>
          </a:xfrm>
          <a:prstGeom prst="rect">
            <a:avLst/>
          </a:prstGeom>
        </p:spPr>
      </p:pic>
      <p:sp>
        <p:nvSpPr>
          <p:cNvPr id="3" name="Shape 0"/>
          <p:cNvSpPr/>
          <p:nvPr/>
        </p:nvSpPr>
        <p:spPr>
          <a:xfrm>
            <a:off x="7498080" y="0"/>
            <a:ext cx="4690872" cy="6858000"/>
          </a:xfrm>
          <a:prstGeom prst="rect">
            <a:avLst/>
          </a:prstGeom>
          <a:solidFill>
            <a:srgbClr val="1F1B17">
              <a:alpha val="45000"/>
            </a:srgbClr>
          </a:solidFill>
          <a:ln/>
        </p:spPr>
        <p:txBody>
          <a:bodyPr/>
          <a:p/>
        </p:txBody>
      </p:sp>
      <p:sp>
        <p:nvSpPr>
          <p:cNvPr id="4" name="Text 1"/>
          <p:cNvSpPr/>
          <p:nvPr/>
        </p:nvSpPr>
        <p:spPr>
          <a:xfrm>
            <a:off x="777240" y="777240"/>
            <a:ext cx="5486400" cy="274320"/>
          </a:xfrm>
          <a:prstGeom prst="rect">
            <a:avLst/>
          </a:prstGeom>
          <a:noFill/>
          <a:ln/>
        </p:spPr>
        <p:txBody>
          <a:bodyPr wrap="square" lIns="0" tIns="0" rIns="0" bIns="0" rtlCol="0" anchor="ctr"/>
          <a:lstStyle/>
          <a:p>
            <a:pPr algn="l" indent="0" marL="0">
              <a:buNone/>
            </a:pPr>
            <a:r>
              <a:rPr lang="en-US" sz="1100" b="1" spc="300" kern="0" dirty="0">
                <a:solidFill>
                  <a:srgbClr val="A85F26"/>
                </a:solidFill>
                <a:latin typeface="Geist" pitchFamily="34" charset="0"/>
                <a:ea typeface="Geist" pitchFamily="34" charset="-122"/>
                <a:cs typeface="Geist" pitchFamily="34" charset="-120"/>
              </a:rPr>
              <a:t>THE DILEMMA</a:t>
            </a:r>
            <a:endParaRPr lang="en-US" sz="1100" dirty="0"/>
          </a:p>
        </p:txBody>
      </p:sp>
      <p:sp>
        <p:nvSpPr>
          <p:cNvPr id="5" name="Text 2"/>
          <p:cNvSpPr/>
          <p:nvPr/>
        </p:nvSpPr>
        <p:spPr>
          <a:xfrm>
            <a:off x="749808" y="1097280"/>
            <a:ext cx="6400800" cy="1463040"/>
          </a:xfrm>
          <a:prstGeom prst="rect">
            <a:avLst/>
          </a:prstGeom>
          <a:noFill/>
          <a:ln/>
        </p:spPr>
        <p:txBody>
          <a:bodyPr wrap="square" rtlCol="0" anchor="ctr"/>
          <a:lstStyle/>
          <a:p>
            <a:pPr indent="0" marL="0">
              <a:lnSpc>
                <a:spcPct val="105000"/>
              </a:lnSpc>
              <a:buNone/>
            </a:pPr>
            <a:r>
              <a:rPr lang="en-US" sz="3400" b="1" dirty="0">
                <a:solidFill>
                  <a:srgbClr val="1F1B17"/>
                </a:solidFill>
                <a:latin typeface="Fraunces" pitchFamily="34" charset="0"/>
                <a:ea typeface="Fraunces" pitchFamily="34" charset="-122"/>
                <a:cs typeface="Fraunces" pitchFamily="34" charset="-120"/>
              </a:rPr>
              <a:t>Bitcoin makes you rich.</a:t>
            </a:r>
            <a:endParaRPr lang="en-US" sz="3400" dirty="0"/>
          </a:p>
          <a:p>
            <a:pPr indent="0" marL="0">
              <a:lnSpc>
                <a:spcPct val="105000"/>
              </a:lnSpc>
              <a:buNone/>
            </a:pPr>
            <a:r>
              <a:rPr lang="en-US" sz="3400" b="1" dirty="0">
                <a:solidFill>
                  <a:srgbClr val="1F1B17"/>
                </a:solidFill>
                <a:latin typeface="Fraunces" pitchFamily="34" charset="0"/>
                <a:ea typeface="Fraunces" pitchFamily="34" charset="-122"/>
                <a:cs typeface="Fraunces" pitchFamily="34" charset="-120"/>
              </a:rPr>
              <a:t>Spending it makes you sell.</a:t>
            </a:r>
            <a:endParaRPr lang="en-US" sz="3400" dirty="0"/>
          </a:p>
        </p:txBody>
      </p:sp>
      <p:sp>
        <p:nvSpPr>
          <p:cNvPr id="6" name="Text 3"/>
          <p:cNvSpPr/>
          <p:nvPr/>
        </p:nvSpPr>
        <p:spPr>
          <a:xfrm>
            <a:off x="749808" y="2788920"/>
            <a:ext cx="6309360" cy="1828800"/>
          </a:xfrm>
          <a:prstGeom prst="rect">
            <a:avLst/>
          </a:prstGeom>
          <a:noFill/>
          <a:ln/>
        </p:spPr>
        <p:txBody>
          <a:bodyPr wrap="square" lIns="0" tIns="0" rIns="0" bIns="0" rtlCol="0" anchor="t"/>
          <a:lstStyle/>
          <a:p>
            <a:pPr indent="0" marL="0">
              <a:buNone/>
            </a:pPr>
            <a:r>
              <a:rPr lang="en-US" sz="1700" b="1" dirty="0">
                <a:solidFill>
                  <a:srgbClr val="1F1B17"/>
                </a:solidFill>
                <a:latin typeface="Geist" pitchFamily="34" charset="0"/>
                <a:ea typeface="Geist" pitchFamily="34" charset="-122"/>
                <a:cs typeface="Geist" pitchFamily="34" charset="-120"/>
              </a:rPr>
              <a:t>Sell BTC</a:t>
            </a:r>
            <a:endParaRPr lang="en-US" sz="1700" dirty="0"/>
          </a:p>
          <a:p>
            <a:pPr indent="0" marL="0">
              <a:buNone/>
            </a:pPr>
            <a:r>
              <a:rPr lang="en-US" sz="1400" dirty="0">
                <a:solidFill>
                  <a:srgbClr val="5C5448"/>
                </a:solidFill>
                <a:latin typeface="Geist" pitchFamily="34" charset="0"/>
                <a:ea typeface="Geist" pitchFamily="34" charset="-122"/>
                <a:cs typeface="Geist" pitchFamily="34" charset="-120"/>
              </a:rPr>
              <a:t>Get cash now — but lose all future upside.</a:t>
            </a:r>
            <a:endParaRPr lang="en-US" sz="1700" dirty="0"/>
          </a:p>
          <a:p>
            <a:pPr indent="0" marL="0">
              <a:buNone/>
            </a:pPr>
            <a:r>
              <a:rPr lang="en-US" sz="800" dirty="0">
                <a:solidFill>
                  <a:srgbClr val="000000"/>
                </a:solidFill>
                <a:latin typeface="Geist" pitchFamily="34" charset="0"/>
                <a:ea typeface="Geist" pitchFamily="34" charset="-122"/>
                <a:cs typeface="Geist" pitchFamily="34" charset="-120"/>
              </a:rPr>
              <a:t> </a:t>
            </a:r>
            <a:endParaRPr lang="en-US" sz="1700" dirty="0"/>
          </a:p>
          <a:p>
            <a:pPr indent="0" marL="0">
              <a:buNone/>
            </a:pPr>
            <a:r>
              <a:rPr lang="en-US" sz="1700" b="1" dirty="0">
                <a:solidFill>
                  <a:srgbClr val="1F1B17"/>
                </a:solidFill>
                <a:latin typeface="Geist" pitchFamily="34" charset="0"/>
                <a:ea typeface="Geist" pitchFamily="34" charset="-122"/>
                <a:cs typeface="Geist" pitchFamily="34" charset="-120"/>
              </a:rPr>
              <a:t>Hold BTC</a:t>
            </a:r>
            <a:endParaRPr lang="en-US" sz="1700" dirty="0"/>
          </a:p>
          <a:p>
            <a:pPr indent="0" marL="0">
              <a:buNone/>
            </a:pPr>
            <a:r>
              <a:rPr lang="en-US" sz="1400" dirty="0">
                <a:solidFill>
                  <a:srgbClr val="5C5448"/>
                </a:solidFill>
                <a:latin typeface="Geist" pitchFamily="34" charset="0"/>
                <a:ea typeface="Geist" pitchFamily="34" charset="-122"/>
                <a:cs typeface="Geist" pitchFamily="34" charset="-120"/>
              </a:rPr>
              <a:t>Keep the upside — but no cash to live on.</a:t>
            </a:r>
            <a:endParaRPr lang="en-US" sz="1700" dirty="0"/>
          </a:p>
        </p:txBody>
      </p:sp>
      <p:sp>
        <p:nvSpPr>
          <p:cNvPr id="7" name="Text 4"/>
          <p:cNvSpPr/>
          <p:nvPr/>
        </p:nvSpPr>
        <p:spPr>
          <a:xfrm>
            <a:off x="749808" y="4983480"/>
            <a:ext cx="6309360" cy="1188720"/>
          </a:xfrm>
          <a:prstGeom prst="rect">
            <a:avLst/>
          </a:prstGeom>
          <a:noFill/>
          <a:ln/>
        </p:spPr>
        <p:txBody>
          <a:bodyPr wrap="square" rtlCol="0" anchor="t"/>
          <a:lstStyle/>
          <a:p>
            <a:pPr indent="0" marL="0">
              <a:buNone/>
            </a:pPr>
            <a:r>
              <a:rPr lang="en-US" sz="1500" dirty="0">
                <a:solidFill>
                  <a:srgbClr val="1F1B17"/>
                </a:solidFill>
                <a:latin typeface="Geist" pitchFamily="34" charset="0"/>
                <a:ea typeface="Geist" pitchFamily="34" charset="-122"/>
                <a:cs typeface="Geist" pitchFamily="34" charset="-120"/>
              </a:rPr>
              <a:t>Mezo lets you borrow dollars against BTC at 1%. But then you manage the risk, the yield, and the liquidation yourself — 24/7.</a:t>
            </a:r>
            <a:pPr indent="0" marL="0">
              <a:buNone/>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DFBF7"/>
        </a:solidFill>
      </p:bgPr>
    </p:bg>
    <p:spTree>
      <p:nvGrpSpPr>
        <p:cNvPr id="1" name=""/>
        <p:cNvGrpSpPr/>
        <p:nvPr/>
      </p:nvGrpSpPr>
      <p:grpSpPr>
        <a:xfrm>
          <a:off x="0" y="0"/>
          <a:ext cx="0" cy="0"/>
          <a:chOff x="0" y="0"/>
          <a:chExt cx="0" cy="0"/>
        </a:xfrm>
      </p:grpSpPr>
      <p:pic>
        <p:nvPicPr>
          <p:cNvPr id="2" name="Image 0" descr="/sessions/kind-sharp-feynman/mnt/outputs/deck/img/meadow.png">    </p:cNvPr>
          <p:cNvPicPr>
            <a:picLocks noChangeAspect="1"/>
          </p:cNvPicPr>
          <p:nvPr/>
        </p:nvPicPr>
        <p:blipFill>
          <a:blip r:embed="rId1"/>
          <a:srcRect l="0" r="0" t="0" b="0"/>
          <a:stretch/>
        </p:blipFill>
        <p:spPr>
          <a:xfrm>
            <a:off x="7360920" y="0"/>
            <a:ext cx="4828032" cy="6858000"/>
          </a:xfrm>
          <a:prstGeom prst="rect">
            <a:avLst/>
          </a:prstGeom>
        </p:spPr>
      </p:pic>
      <p:sp>
        <p:nvSpPr>
          <p:cNvPr id="3" name="Shape 0"/>
          <p:cNvSpPr/>
          <p:nvPr/>
        </p:nvSpPr>
        <p:spPr>
          <a:xfrm>
            <a:off x="7360920" y="0"/>
            <a:ext cx="4828032" cy="6858000"/>
          </a:xfrm>
          <a:prstGeom prst="rect">
            <a:avLst/>
          </a:prstGeom>
          <a:solidFill>
            <a:srgbClr val="1F1B17">
              <a:alpha val="40000"/>
            </a:srgbClr>
          </a:solidFill>
          <a:ln/>
        </p:spPr>
        <p:txBody>
          <a:bodyPr/>
          <a:p/>
        </p:txBody>
      </p:sp>
      <p:sp>
        <p:nvSpPr>
          <p:cNvPr id="4" name="Text 1"/>
          <p:cNvSpPr/>
          <p:nvPr/>
        </p:nvSpPr>
        <p:spPr>
          <a:xfrm>
            <a:off x="777240" y="731520"/>
            <a:ext cx="5486400" cy="274320"/>
          </a:xfrm>
          <a:prstGeom prst="rect">
            <a:avLst/>
          </a:prstGeom>
          <a:noFill/>
          <a:ln/>
        </p:spPr>
        <p:txBody>
          <a:bodyPr wrap="square" lIns="0" tIns="0" rIns="0" bIns="0" rtlCol="0" anchor="ctr"/>
          <a:lstStyle/>
          <a:p>
            <a:pPr algn="l" indent="0" marL="0">
              <a:buNone/>
            </a:pPr>
            <a:r>
              <a:rPr lang="en-US" sz="1100" b="1" spc="300" kern="0" dirty="0">
                <a:solidFill>
                  <a:srgbClr val="A85F26"/>
                </a:solidFill>
                <a:latin typeface="Geist" pitchFamily="34" charset="0"/>
                <a:ea typeface="Geist" pitchFamily="34" charset="-122"/>
                <a:cs typeface="Geist" pitchFamily="34" charset="-120"/>
              </a:rPr>
              <a:t>THE SOLUTION</a:t>
            </a:r>
            <a:endParaRPr lang="en-US" sz="1100" dirty="0"/>
          </a:p>
        </p:txBody>
      </p:sp>
      <p:sp>
        <p:nvSpPr>
          <p:cNvPr id="5" name="Text 2"/>
          <p:cNvSpPr/>
          <p:nvPr/>
        </p:nvSpPr>
        <p:spPr>
          <a:xfrm>
            <a:off x="749808" y="1051560"/>
            <a:ext cx="6400800" cy="731520"/>
          </a:xfrm>
          <a:prstGeom prst="rect">
            <a:avLst/>
          </a:prstGeom>
          <a:noFill/>
          <a:ln/>
        </p:spPr>
        <p:txBody>
          <a:bodyPr wrap="square" rtlCol="0" anchor="ctr"/>
          <a:lstStyle/>
          <a:p>
            <a:pPr indent="0" marL="0">
              <a:buNone/>
            </a:pPr>
            <a:r>
              <a:rPr lang="en-US" sz="3400" b="1" dirty="0">
                <a:solidFill>
                  <a:srgbClr val="1F1B17"/>
                </a:solidFill>
                <a:latin typeface="Fraunces" pitchFamily="34" charset="0"/>
                <a:ea typeface="Fraunces" pitchFamily="34" charset="-122"/>
                <a:cs typeface="Fraunces" pitchFamily="34" charset="-120"/>
              </a:rPr>
              <a:t>Cermin is the autopilot.</a:t>
            </a:r>
            <a:endParaRPr lang="en-US" sz="3400" dirty="0"/>
          </a:p>
        </p:txBody>
      </p:sp>
      <p:sp>
        <p:nvSpPr>
          <p:cNvPr id="6" name="Text 3"/>
          <p:cNvSpPr/>
          <p:nvPr/>
        </p:nvSpPr>
        <p:spPr>
          <a:xfrm>
            <a:off x="749808" y="1828800"/>
            <a:ext cx="6309360" cy="822960"/>
          </a:xfrm>
          <a:prstGeom prst="rect">
            <a:avLst/>
          </a:prstGeom>
          <a:noFill/>
          <a:ln/>
        </p:spPr>
        <p:txBody>
          <a:bodyPr wrap="square" rtlCol="0" anchor="ctr"/>
          <a:lstStyle/>
          <a:p>
            <a:pPr indent="0" marL="0">
              <a:buNone/>
            </a:pPr>
            <a:r>
              <a:rPr lang="en-US" sz="1500" dirty="0">
                <a:solidFill>
                  <a:srgbClr val="5C5448"/>
                </a:solidFill>
                <a:latin typeface="Geist" pitchFamily="34" charset="0"/>
                <a:ea typeface="Geist" pitchFamily="34" charset="-122"/>
                <a:cs typeface="Geist" pitchFamily="34" charset="-120"/>
              </a:rPr>
              <a:t>Deposit your BTC once. Cermin borrows at 1%, earns ~5%, and pays you the difference — about $167 a month per BTC.</a:t>
            </a:r>
            <a:endParaRPr lang="en-US" sz="1500" dirty="0"/>
          </a:p>
        </p:txBody>
      </p:sp>
      <p:sp>
        <p:nvSpPr>
          <p:cNvPr id="7" name="Shape 4"/>
          <p:cNvSpPr/>
          <p:nvPr/>
        </p:nvSpPr>
        <p:spPr>
          <a:xfrm>
            <a:off x="777240" y="2834640"/>
            <a:ext cx="566928" cy="566928"/>
          </a:xfrm>
          <a:prstGeom prst="ellipse">
            <a:avLst/>
          </a:prstGeom>
          <a:solidFill>
            <a:srgbClr val="F5EFE5"/>
          </a:solidFill>
          <a:ln w="12700">
            <a:solidFill>
              <a:srgbClr val="E5DCCB"/>
            </a:solidFill>
            <a:prstDash val="solid"/>
          </a:ln>
        </p:spPr>
        <p:txBody>
          <a:bodyPr/>
          <a:p/>
        </p:txBody>
      </p:sp>
      <p:pic>
        <p:nvPicPr>
          <p:cNvPr id="8" name="Image 1" descr="preencoded.png">    </p:cNvPr>
          <p:cNvPicPr>
            <a:picLocks noChangeAspect="1"/>
          </p:cNvPicPr>
          <p:nvPr/>
        </p:nvPicPr>
        <p:blipFill>
          <a:blip r:embed="rId2"/>
          <a:stretch>
            <a:fillRect/>
          </a:stretch>
        </p:blipFill>
        <p:spPr>
          <a:xfrm>
            <a:off x="905256" y="2962656"/>
            <a:ext cx="310896" cy="310896"/>
          </a:xfrm>
          <a:prstGeom prst="rect">
            <a:avLst/>
          </a:prstGeom>
        </p:spPr>
      </p:pic>
      <p:sp>
        <p:nvSpPr>
          <p:cNvPr id="9" name="Text 5"/>
          <p:cNvSpPr/>
          <p:nvPr/>
        </p:nvSpPr>
        <p:spPr>
          <a:xfrm>
            <a:off x="1508760" y="2834640"/>
            <a:ext cx="5486400" cy="566928"/>
          </a:xfrm>
          <a:prstGeom prst="rect">
            <a:avLst/>
          </a:prstGeom>
          <a:noFill/>
          <a:ln/>
        </p:spPr>
        <p:txBody>
          <a:bodyPr wrap="square" lIns="0" tIns="0" rIns="0" bIns="0" rtlCol="0" anchor="ctr"/>
          <a:lstStyle/>
          <a:p>
            <a:pPr indent="0" marL="0">
              <a:buNone/>
            </a:pPr>
            <a:r>
              <a:rPr lang="en-US" sz="1550" b="1" dirty="0">
                <a:solidFill>
                  <a:srgbClr val="1F1B17"/>
                </a:solidFill>
                <a:latin typeface="Geist" pitchFamily="34" charset="0"/>
                <a:ea typeface="Geist" pitchFamily="34" charset="-122"/>
                <a:cs typeface="Geist" pitchFamily="34" charset="-120"/>
              </a:rPr>
              <a:t>Borrows dollars against your BTC</a:t>
            </a:r>
            <a:endParaRPr lang="en-US" sz="1550" dirty="0"/>
          </a:p>
        </p:txBody>
      </p:sp>
      <p:sp>
        <p:nvSpPr>
          <p:cNvPr id="10" name="Shape 6"/>
          <p:cNvSpPr/>
          <p:nvPr/>
        </p:nvSpPr>
        <p:spPr>
          <a:xfrm>
            <a:off x="777240" y="3675888"/>
            <a:ext cx="566928" cy="566928"/>
          </a:xfrm>
          <a:prstGeom prst="ellipse">
            <a:avLst/>
          </a:prstGeom>
          <a:solidFill>
            <a:srgbClr val="F5EFE5"/>
          </a:solidFill>
          <a:ln w="12700">
            <a:solidFill>
              <a:srgbClr val="E5DCCB"/>
            </a:solidFill>
            <a:prstDash val="solid"/>
          </a:ln>
        </p:spPr>
        <p:txBody>
          <a:bodyPr/>
          <a:p/>
        </p:txBody>
      </p:sp>
      <p:pic>
        <p:nvPicPr>
          <p:cNvPr id="11" name="Image 2" descr="preencoded.png">    </p:cNvPr>
          <p:cNvPicPr>
            <a:picLocks noChangeAspect="1"/>
          </p:cNvPicPr>
          <p:nvPr/>
        </p:nvPicPr>
        <p:blipFill>
          <a:blip r:embed="rId3"/>
          <a:stretch>
            <a:fillRect/>
          </a:stretch>
        </p:blipFill>
        <p:spPr>
          <a:xfrm>
            <a:off x="905256" y="3803904"/>
            <a:ext cx="310896" cy="310896"/>
          </a:xfrm>
          <a:prstGeom prst="rect">
            <a:avLst/>
          </a:prstGeom>
        </p:spPr>
      </p:pic>
      <p:sp>
        <p:nvSpPr>
          <p:cNvPr id="12" name="Text 7"/>
          <p:cNvSpPr/>
          <p:nvPr/>
        </p:nvSpPr>
        <p:spPr>
          <a:xfrm>
            <a:off x="1508760" y="3675888"/>
            <a:ext cx="5486400" cy="566928"/>
          </a:xfrm>
          <a:prstGeom prst="rect">
            <a:avLst/>
          </a:prstGeom>
          <a:noFill/>
          <a:ln/>
        </p:spPr>
        <p:txBody>
          <a:bodyPr wrap="square" lIns="0" tIns="0" rIns="0" bIns="0" rtlCol="0" anchor="ctr"/>
          <a:lstStyle/>
          <a:p>
            <a:pPr indent="0" marL="0">
              <a:buNone/>
            </a:pPr>
            <a:r>
              <a:rPr lang="en-US" sz="1550" b="1" dirty="0">
                <a:solidFill>
                  <a:srgbClr val="1F1B17"/>
                </a:solidFill>
                <a:latin typeface="Geist" pitchFamily="34" charset="0"/>
                <a:ea typeface="Geist" pitchFamily="34" charset="-122"/>
                <a:cs typeface="Geist" pitchFamily="34" charset="-120"/>
              </a:rPr>
              <a:t>Earns about 5% on those dollars</a:t>
            </a:r>
            <a:endParaRPr lang="en-US" sz="1550" dirty="0"/>
          </a:p>
        </p:txBody>
      </p:sp>
      <p:sp>
        <p:nvSpPr>
          <p:cNvPr id="13" name="Shape 8"/>
          <p:cNvSpPr/>
          <p:nvPr/>
        </p:nvSpPr>
        <p:spPr>
          <a:xfrm>
            <a:off x="777240" y="4517136"/>
            <a:ext cx="566928" cy="566928"/>
          </a:xfrm>
          <a:prstGeom prst="ellipse">
            <a:avLst/>
          </a:prstGeom>
          <a:solidFill>
            <a:srgbClr val="F5EFE5"/>
          </a:solidFill>
          <a:ln w="12700">
            <a:solidFill>
              <a:srgbClr val="E5DCCB"/>
            </a:solidFill>
            <a:prstDash val="solid"/>
          </a:ln>
        </p:spPr>
        <p:txBody>
          <a:bodyPr/>
          <a:p/>
        </p:txBody>
      </p:sp>
      <p:pic>
        <p:nvPicPr>
          <p:cNvPr id="14" name="Image 3" descr="preencoded.png">    </p:cNvPr>
          <p:cNvPicPr>
            <a:picLocks noChangeAspect="1"/>
          </p:cNvPicPr>
          <p:nvPr/>
        </p:nvPicPr>
        <p:blipFill>
          <a:blip r:embed="rId4"/>
          <a:stretch>
            <a:fillRect/>
          </a:stretch>
        </p:blipFill>
        <p:spPr>
          <a:xfrm>
            <a:off x="905256" y="4645152"/>
            <a:ext cx="310896" cy="310896"/>
          </a:xfrm>
          <a:prstGeom prst="rect">
            <a:avLst/>
          </a:prstGeom>
        </p:spPr>
      </p:pic>
      <p:sp>
        <p:nvSpPr>
          <p:cNvPr id="15" name="Text 9"/>
          <p:cNvSpPr/>
          <p:nvPr/>
        </p:nvSpPr>
        <p:spPr>
          <a:xfrm>
            <a:off x="1508760" y="4517136"/>
            <a:ext cx="5486400" cy="566928"/>
          </a:xfrm>
          <a:prstGeom prst="rect">
            <a:avLst/>
          </a:prstGeom>
          <a:noFill/>
          <a:ln/>
        </p:spPr>
        <p:txBody>
          <a:bodyPr wrap="square" lIns="0" tIns="0" rIns="0" bIns="0" rtlCol="0" anchor="ctr"/>
          <a:lstStyle/>
          <a:p>
            <a:pPr indent="0" marL="0">
              <a:buNone/>
            </a:pPr>
            <a:r>
              <a:rPr lang="en-US" sz="1550" b="1" dirty="0">
                <a:solidFill>
                  <a:srgbClr val="1F1B17"/>
                </a:solidFill>
                <a:latin typeface="Geist" pitchFamily="34" charset="0"/>
                <a:ea typeface="Geist" pitchFamily="34" charset="-122"/>
                <a:cs typeface="Geist" pitchFamily="34" charset="-120"/>
              </a:rPr>
              <a:t>Grows your cash when BTC goes up</a:t>
            </a:r>
            <a:endParaRPr lang="en-US" sz="1550" dirty="0"/>
          </a:p>
        </p:txBody>
      </p:sp>
      <p:sp>
        <p:nvSpPr>
          <p:cNvPr id="16" name="Shape 10"/>
          <p:cNvSpPr/>
          <p:nvPr/>
        </p:nvSpPr>
        <p:spPr>
          <a:xfrm>
            <a:off x="777240" y="5358384"/>
            <a:ext cx="566928" cy="566928"/>
          </a:xfrm>
          <a:prstGeom prst="ellipse">
            <a:avLst/>
          </a:prstGeom>
          <a:solidFill>
            <a:srgbClr val="F5EFE5"/>
          </a:solidFill>
          <a:ln w="12700">
            <a:solidFill>
              <a:srgbClr val="E5DCCB"/>
            </a:solidFill>
            <a:prstDash val="solid"/>
          </a:ln>
        </p:spPr>
        <p:txBody>
          <a:bodyPr/>
          <a:p/>
        </p:txBody>
      </p:sp>
      <p:pic>
        <p:nvPicPr>
          <p:cNvPr id="17" name="Image 4" descr="preencoded.png">    </p:cNvPr>
          <p:cNvPicPr>
            <a:picLocks noChangeAspect="1"/>
          </p:cNvPicPr>
          <p:nvPr/>
        </p:nvPicPr>
        <p:blipFill>
          <a:blip r:embed="rId5"/>
          <a:stretch>
            <a:fillRect/>
          </a:stretch>
        </p:blipFill>
        <p:spPr>
          <a:xfrm>
            <a:off x="905256" y="5486400"/>
            <a:ext cx="310896" cy="310896"/>
          </a:xfrm>
          <a:prstGeom prst="rect">
            <a:avLst/>
          </a:prstGeom>
        </p:spPr>
      </p:pic>
      <p:sp>
        <p:nvSpPr>
          <p:cNvPr id="18" name="Text 11"/>
          <p:cNvSpPr/>
          <p:nvPr/>
        </p:nvSpPr>
        <p:spPr>
          <a:xfrm>
            <a:off x="1508760" y="5358384"/>
            <a:ext cx="5486400" cy="566928"/>
          </a:xfrm>
          <a:prstGeom prst="rect">
            <a:avLst/>
          </a:prstGeom>
          <a:noFill/>
          <a:ln/>
        </p:spPr>
        <p:txBody>
          <a:bodyPr wrap="square" lIns="0" tIns="0" rIns="0" bIns="0" rtlCol="0" anchor="ctr"/>
          <a:lstStyle/>
          <a:p>
            <a:pPr indent="0" marL="0">
              <a:buNone/>
            </a:pPr>
            <a:r>
              <a:rPr lang="en-US" sz="1550" b="1" dirty="0">
                <a:solidFill>
                  <a:srgbClr val="1F1B17"/>
                </a:solidFill>
                <a:latin typeface="Geist" pitchFamily="34" charset="0"/>
                <a:ea typeface="Geist" pitchFamily="34" charset="-122"/>
                <a:cs typeface="Geist" pitchFamily="34" charset="-120"/>
              </a:rPr>
              <a:t>Repays debt when BTC drops — no liquidation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777240" y="731520"/>
            <a:ext cx="5486400" cy="274320"/>
          </a:xfrm>
          <a:prstGeom prst="rect">
            <a:avLst/>
          </a:prstGeom>
          <a:noFill/>
          <a:ln/>
        </p:spPr>
        <p:txBody>
          <a:bodyPr wrap="square" lIns="0" tIns="0" rIns="0" bIns="0" rtlCol="0" anchor="ctr"/>
          <a:lstStyle/>
          <a:p>
            <a:pPr algn="l" indent="0" marL="0">
              <a:buNone/>
            </a:pPr>
            <a:r>
              <a:rPr lang="en-US" sz="1100" b="1" spc="300" kern="0" dirty="0">
                <a:solidFill>
                  <a:srgbClr val="A85F26"/>
                </a:solidFill>
                <a:latin typeface="Geist" pitchFamily="34" charset="0"/>
                <a:ea typeface="Geist" pitchFamily="34" charset="-122"/>
                <a:cs typeface="Geist" pitchFamily="34" charset="-120"/>
              </a:rPr>
              <a:t>THE ENGINE</a:t>
            </a:r>
            <a:endParaRPr lang="en-US" sz="1100" dirty="0"/>
          </a:p>
        </p:txBody>
      </p:sp>
      <p:sp>
        <p:nvSpPr>
          <p:cNvPr id="3" name="Text 1"/>
          <p:cNvSpPr/>
          <p:nvPr/>
        </p:nvSpPr>
        <p:spPr>
          <a:xfrm>
            <a:off x="749808" y="1051560"/>
            <a:ext cx="10972800" cy="731520"/>
          </a:xfrm>
          <a:prstGeom prst="rect">
            <a:avLst/>
          </a:prstGeom>
          <a:noFill/>
          <a:ln/>
        </p:spPr>
        <p:txBody>
          <a:bodyPr wrap="square" rtlCol="0" anchor="ctr"/>
          <a:lstStyle/>
          <a:p>
            <a:pPr indent="0" marL="0">
              <a:buNone/>
            </a:pPr>
            <a:r>
              <a:rPr lang="en-US" sz="3100" b="1" dirty="0">
                <a:solidFill>
                  <a:srgbClr val="1F1B17"/>
                </a:solidFill>
                <a:latin typeface="Fraunces" pitchFamily="34" charset="0"/>
                <a:ea typeface="Fraunces" pitchFamily="34" charset="-122"/>
                <a:cs typeface="Fraunces" pitchFamily="34" charset="-120"/>
              </a:rPr>
              <a:t>Two automatic actions — that's it.</a:t>
            </a:r>
            <a:endParaRPr lang="en-US" sz="3100" dirty="0"/>
          </a:p>
        </p:txBody>
      </p:sp>
      <p:sp>
        <p:nvSpPr>
          <p:cNvPr id="4" name="Shape 2"/>
          <p:cNvSpPr/>
          <p:nvPr/>
        </p:nvSpPr>
        <p:spPr>
          <a:xfrm>
            <a:off x="777240" y="2240280"/>
            <a:ext cx="5257800" cy="4023360"/>
          </a:xfrm>
          <a:prstGeom prst="rect">
            <a:avLst/>
          </a:prstGeom>
          <a:solidFill>
            <a:srgbClr val="FAF6F0"/>
          </a:solidFill>
          <a:ln w="12700">
            <a:solidFill>
              <a:srgbClr val="E5DCCB"/>
            </a:solidFill>
            <a:prstDash val="solid"/>
          </a:ln>
          <a:effectLst>
            <a:outerShdw sx="100000" sy="100000" kx="0" ky="0" algn="bl" rotWithShape="0" blurRad="114300" dist="38100" dir="5400000">
              <a:srgbClr val="1f1b17">
                <a:alpha val="16000"/>
              </a:srgbClr>
            </a:outerShdw>
          </a:effectLst>
        </p:spPr>
        <p:txBody>
          <a:bodyPr/>
          <a:p/>
        </p:txBody>
      </p:sp>
      <p:sp>
        <p:nvSpPr>
          <p:cNvPr id="5" name="Shape 3"/>
          <p:cNvSpPr/>
          <p:nvPr/>
        </p:nvSpPr>
        <p:spPr>
          <a:xfrm>
            <a:off x="777240" y="2240280"/>
            <a:ext cx="109728" cy="4023360"/>
          </a:xfrm>
          <a:prstGeom prst="rect">
            <a:avLst/>
          </a:prstGeom>
          <a:solidFill>
            <a:srgbClr val="6B8E5A"/>
          </a:solidFill>
          <a:ln/>
        </p:spPr>
        <p:txBody>
          <a:bodyPr/>
          <a:p/>
        </p:txBody>
      </p:sp>
      <p:pic>
        <p:nvPicPr>
          <p:cNvPr id="6" name="Image 0" descr="preencoded.png">    </p:cNvPr>
          <p:cNvPicPr>
            <a:picLocks noChangeAspect="1"/>
          </p:cNvPicPr>
          <p:nvPr/>
        </p:nvPicPr>
        <p:blipFill>
          <a:blip r:embed="rId1"/>
          <a:stretch>
            <a:fillRect/>
          </a:stretch>
        </p:blipFill>
        <p:spPr>
          <a:xfrm>
            <a:off x="1097280" y="2560320"/>
            <a:ext cx="548640" cy="548640"/>
          </a:xfrm>
          <a:prstGeom prst="rect">
            <a:avLst/>
          </a:prstGeom>
        </p:spPr>
      </p:pic>
      <p:sp>
        <p:nvSpPr>
          <p:cNvPr id="7" name="Text 4"/>
          <p:cNvSpPr/>
          <p:nvPr/>
        </p:nvSpPr>
        <p:spPr>
          <a:xfrm>
            <a:off x="1783080" y="2606040"/>
            <a:ext cx="4114800" cy="457200"/>
          </a:xfrm>
          <a:prstGeom prst="rect">
            <a:avLst/>
          </a:prstGeom>
          <a:noFill/>
          <a:ln/>
        </p:spPr>
        <p:txBody>
          <a:bodyPr wrap="square" lIns="0" tIns="0" rIns="0" bIns="0" rtlCol="0" anchor="ctr"/>
          <a:lstStyle/>
          <a:p>
            <a:pPr indent="0" marL="0">
              <a:buNone/>
            </a:pPr>
            <a:r>
              <a:rPr lang="en-US" sz="1600" b="1" dirty="0">
                <a:solidFill>
                  <a:srgbClr val="6B8E5A"/>
                </a:solidFill>
                <a:latin typeface="Geist" pitchFamily="34" charset="0"/>
                <a:ea typeface="Geist" pitchFamily="34" charset="-122"/>
                <a:cs typeface="Geist" pitchFamily="34" charset="-120"/>
              </a:rPr>
              <a:t>SKIM — when BTC goes up</a:t>
            </a:r>
            <a:endParaRPr lang="en-US" sz="1600" dirty="0"/>
          </a:p>
        </p:txBody>
      </p:sp>
      <p:sp>
        <p:nvSpPr>
          <p:cNvPr id="8" name="Text 5"/>
          <p:cNvSpPr/>
          <p:nvPr/>
        </p:nvSpPr>
        <p:spPr>
          <a:xfrm>
            <a:off x="1097280" y="3383280"/>
            <a:ext cx="4754880" cy="2743200"/>
          </a:xfrm>
          <a:prstGeom prst="rect">
            <a:avLst/>
          </a:prstGeom>
          <a:noFill/>
          <a:ln/>
        </p:spPr>
        <p:txBody>
          <a:bodyPr wrap="square" lIns="0" tIns="0" rIns="0" bIns="0" rtlCol="0" anchor="t"/>
          <a:lstStyle/>
          <a:p>
            <a:pPr indent="0" marL="0">
              <a:buNone/>
            </a:pPr>
            <a:r>
              <a:rPr lang="en-US" sz="1400" dirty="0">
                <a:solidFill>
                  <a:srgbClr val="1F1B17"/>
                </a:solidFill>
                <a:latin typeface="Geist" pitchFamily="34" charset="0"/>
                <a:ea typeface="Geist" pitchFamily="34" charset="-122"/>
                <a:cs typeface="Geist" pitchFamily="34" charset="-120"/>
              </a:rPr>
              <a:t>When BTC rises, more borrowing room opens up.</a:t>
            </a:r>
            <a:endParaRPr lang="en-US" sz="1400" dirty="0"/>
          </a:p>
          <a:p>
            <a:pPr indent="0" marL="0">
              <a:buNone/>
            </a:pPr>
            <a:r>
              <a:rPr lang="en-US" sz="700" dirty="0">
                <a:solidFill>
                  <a:srgbClr val="000000"/>
                </a:solidFill>
                <a:latin typeface="Geist" pitchFamily="34" charset="0"/>
                <a:ea typeface="Geist" pitchFamily="34" charset="-122"/>
                <a:cs typeface="Geist" pitchFamily="34" charset="-120"/>
              </a:rPr>
              <a:t> </a:t>
            </a:r>
            <a:endParaRPr lang="en-US" sz="1400" dirty="0"/>
          </a:p>
          <a:p>
            <a:pPr indent="0" marL="0">
              <a:buNone/>
            </a:pPr>
            <a:r>
              <a:rPr lang="en-US" sz="1400" dirty="0">
                <a:solidFill>
                  <a:srgbClr val="5C5448"/>
                </a:solidFill>
                <a:latin typeface="Geist" pitchFamily="34" charset="0"/>
                <a:ea typeface="Geist" pitchFamily="34" charset="-122"/>
                <a:cs typeface="Geist" pitchFamily="34" charset="-120"/>
              </a:rPr>
              <a:t>Cermin turns it into spendable cash plus yield. Your balance grows — your BTC is never sold.</a:t>
            </a:r>
            <a:endParaRPr lang="en-US" sz="1400" dirty="0"/>
          </a:p>
        </p:txBody>
      </p:sp>
      <p:sp>
        <p:nvSpPr>
          <p:cNvPr id="9" name="Shape 6"/>
          <p:cNvSpPr/>
          <p:nvPr/>
        </p:nvSpPr>
        <p:spPr>
          <a:xfrm>
            <a:off x="6355080" y="2240280"/>
            <a:ext cx="5074920" cy="4023360"/>
          </a:xfrm>
          <a:prstGeom prst="rect">
            <a:avLst/>
          </a:prstGeom>
          <a:solidFill>
            <a:srgbClr val="FAF6F0"/>
          </a:solidFill>
          <a:ln w="12700">
            <a:solidFill>
              <a:srgbClr val="E5DCCB"/>
            </a:solidFill>
            <a:prstDash val="solid"/>
          </a:ln>
          <a:effectLst>
            <a:outerShdw sx="100000" sy="100000" kx="0" ky="0" algn="bl" rotWithShape="0" blurRad="114300" dist="38100" dir="5400000">
              <a:srgbClr val="1f1b17">
                <a:alpha val="16000"/>
              </a:srgbClr>
            </a:outerShdw>
          </a:effectLst>
        </p:spPr>
        <p:txBody>
          <a:bodyPr/>
          <a:p/>
        </p:txBody>
      </p:sp>
      <p:sp>
        <p:nvSpPr>
          <p:cNvPr id="10" name="Shape 7"/>
          <p:cNvSpPr/>
          <p:nvPr/>
        </p:nvSpPr>
        <p:spPr>
          <a:xfrm>
            <a:off x="6355080" y="2240280"/>
            <a:ext cx="109728" cy="4023360"/>
          </a:xfrm>
          <a:prstGeom prst="rect">
            <a:avLst/>
          </a:prstGeom>
          <a:solidFill>
            <a:srgbClr val="C77A3A"/>
          </a:solidFill>
          <a:ln/>
        </p:spPr>
        <p:txBody>
          <a:bodyPr/>
          <a:p/>
        </p:txBody>
      </p:sp>
      <p:pic>
        <p:nvPicPr>
          <p:cNvPr id="11" name="Image 1" descr="preencoded.png">    </p:cNvPr>
          <p:cNvPicPr>
            <a:picLocks noChangeAspect="1"/>
          </p:cNvPicPr>
          <p:nvPr/>
        </p:nvPicPr>
        <p:blipFill>
          <a:blip r:embed="rId2"/>
          <a:stretch>
            <a:fillRect/>
          </a:stretch>
        </p:blipFill>
        <p:spPr>
          <a:xfrm>
            <a:off x="6675120" y="2560320"/>
            <a:ext cx="548640" cy="548640"/>
          </a:xfrm>
          <a:prstGeom prst="rect">
            <a:avLst/>
          </a:prstGeom>
        </p:spPr>
      </p:pic>
      <p:sp>
        <p:nvSpPr>
          <p:cNvPr id="12" name="Text 8"/>
          <p:cNvSpPr/>
          <p:nvPr/>
        </p:nvSpPr>
        <p:spPr>
          <a:xfrm>
            <a:off x="7360920" y="2606040"/>
            <a:ext cx="3931920" cy="457200"/>
          </a:xfrm>
          <a:prstGeom prst="rect">
            <a:avLst/>
          </a:prstGeom>
          <a:noFill/>
          <a:ln/>
        </p:spPr>
        <p:txBody>
          <a:bodyPr wrap="square" lIns="0" tIns="0" rIns="0" bIns="0" rtlCol="0" anchor="ctr"/>
          <a:lstStyle/>
          <a:p>
            <a:pPr indent="0" marL="0">
              <a:buNone/>
            </a:pPr>
            <a:r>
              <a:rPr lang="en-US" sz="1600" b="1" dirty="0">
                <a:solidFill>
                  <a:srgbClr val="A85F26"/>
                </a:solidFill>
                <a:latin typeface="Geist" pitchFamily="34" charset="0"/>
                <a:ea typeface="Geist" pitchFamily="34" charset="-122"/>
                <a:cs typeface="Geist" pitchFamily="34" charset="-120"/>
              </a:rPr>
              <a:t>DEFEND — when BTC goes down</a:t>
            </a:r>
            <a:endParaRPr lang="en-US" sz="1600" dirty="0"/>
          </a:p>
        </p:txBody>
      </p:sp>
      <p:sp>
        <p:nvSpPr>
          <p:cNvPr id="13" name="Text 9"/>
          <p:cNvSpPr/>
          <p:nvPr/>
        </p:nvSpPr>
        <p:spPr>
          <a:xfrm>
            <a:off x="6675120" y="3383280"/>
            <a:ext cx="4572000" cy="2743200"/>
          </a:xfrm>
          <a:prstGeom prst="rect">
            <a:avLst/>
          </a:prstGeom>
          <a:noFill/>
          <a:ln/>
        </p:spPr>
        <p:txBody>
          <a:bodyPr wrap="square" lIns="0" tIns="0" rIns="0" bIns="0" rtlCol="0" anchor="t"/>
          <a:lstStyle/>
          <a:p>
            <a:pPr indent="0" marL="0">
              <a:buNone/>
            </a:pPr>
            <a:r>
              <a:rPr lang="en-US" sz="1400" dirty="0">
                <a:solidFill>
                  <a:srgbClr val="1F1B17"/>
                </a:solidFill>
                <a:latin typeface="Geist" pitchFamily="34" charset="0"/>
                <a:ea typeface="Geist" pitchFamily="34" charset="-122"/>
                <a:cs typeface="Geist" pitchFamily="34" charset="-120"/>
              </a:rPr>
              <a:t>Before you get near liquidation, Cermin repays some debt to keep you safe.</a:t>
            </a:r>
            <a:endParaRPr lang="en-US" sz="1400" dirty="0"/>
          </a:p>
          <a:p>
            <a:pPr indent="0" marL="0">
              <a:buNone/>
            </a:pPr>
            <a:r>
              <a:rPr lang="en-US" sz="700" dirty="0">
                <a:solidFill>
                  <a:srgbClr val="000000"/>
                </a:solidFill>
                <a:latin typeface="Geist" pitchFamily="34" charset="0"/>
                <a:ea typeface="Geist" pitchFamily="34" charset="-122"/>
                <a:cs typeface="Geist" pitchFamily="34" charset="-120"/>
              </a:rPr>
              <a:t> </a:t>
            </a:r>
            <a:endParaRPr lang="en-US" sz="1400" dirty="0"/>
          </a:p>
          <a:p>
            <a:pPr indent="0" marL="0">
              <a:buNone/>
            </a:pPr>
            <a:r>
              <a:rPr lang="en-US" sz="1400" dirty="0">
                <a:solidFill>
                  <a:srgbClr val="5C5448"/>
                </a:solidFill>
                <a:latin typeface="Geist" pitchFamily="34" charset="0"/>
                <a:ea typeface="Geist" pitchFamily="34" charset="-122"/>
                <a:cs typeface="Geist" pitchFamily="34" charset="-120"/>
              </a:rPr>
              <a:t>It runs automatically, on-chain — anyone can trigger it, so you're safe even if we're offline.</a:t>
            </a:r>
            <a:endParaRPr lang="en-US" sz="1400" dirty="0"/>
          </a:p>
        </p:txBody>
      </p:sp>
      <p:sp>
        <p:nvSpPr>
          <p:cNvPr id="14" name="TextBox 13"/>
          <p:cNvSpPr txBox="1"/>
          <p:nvPr/>
        </p:nvSpPr>
        <p:spPr>
          <a:xfrm>
            <a:off x="822960" y="6373368"/>
            <a:ext cx="10543032" cy="365760"/>
          </a:xfrm>
          <a:prstGeom prst="rect">
            <a:avLst/>
          </a:prstGeom>
          <a:noFill/>
        </p:spPr>
        <p:txBody>
          <a:bodyPr wrap="square" lIns="0" rIns="0" tIns="0" bIns="0">
            <a:spAutoFit/>
          </a:bodyPr>
          <a:lstStyle/>
          <a:p>
            <a:pPr algn="ctr"/>
            <a:r>
              <a:rPr sz="1200" b="0">
                <a:solidFill>
                  <a:srgbClr val="6E6256"/>
                </a:solidFill>
                <a:latin typeface="Geist"/>
              </a:rPr>
              <a:t>Two contracts · one keeper · </a:t>
            </a:r>
            <a:r>
              <a:rPr sz="1200" b="1">
                <a:solidFill>
                  <a:srgbClr val="A85F26"/>
                </a:solidFill>
                <a:latin typeface="Geist"/>
              </a:rPr>
              <a:t>no LLM, no indexer, no custody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DFBF7"/>
        </a:solidFill>
      </p:bgPr>
    </p:bg>
    <p:spTree>
      <p:nvGrpSpPr>
        <p:cNvPr id="1" name=""/>
        <p:cNvGrpSpPr/>
        <p:nvPr/>
      </p:nvGrpSpPr>
      <p:grpSpPr>
        <a:xfrm>
          <a:off x="0" y="0"/>
          <a:ext cx="0" cy="0"/>
          <a:chOff x="0" y="0"/>
          <a:chExt cx="0" cy="0"/>
        </a:xfrm>
      </p:grpSpPr>
      <p:sp>
        <p:nvSpPr>
          <p:cNvPr id="2" name="Text 0"/>
          <p:cNvSpPr/>
          <p:nvPr/>
        </p:nvSpPr>
        <p:spPr>
          <a:xfrm>
            <a:off x="777240" y="731520"/>
            <a:ext cx="5486400" cy="274320"/>
          </a:xfrm>
          <a:prstGeom prst="rect">
            <a:avLst/>
          </a:prstGeom>
          <a:noFill/>
          <a:ln/>
        </p:spPr>
        <p:txBody>
          <a:bodyPr wrap="square" lIns="0" tIns="0" rIns="0" bIns="0" rtlCol="0" anchor="ctr"/>
          <a:lstStyle/>
          <a:p>
            <a:pPr algn="l" indent="0" marL="0">
              <a:buNone/>
            </a:pPr>
            <a:r>
              <a:rPr lang="en-US" sz="1100" b="1" spc="300" kern="0" dirty="0">
                <a:solidFill>
                  <a:srgbClr val="A85F26"/>
                </a:solidFill>
                <a:latin typeface="Geist" pitchFamily="34" charset="0"/>
                <a:ea typeface="Geist" pitchFamily="34" charset="-122"/>
                <a:cs typeface="Geist" pitchFamily="34" charset="-120"/>
              </a:rPr>
              <a:t>WHY CERMIN WINS</a:t>
            </a:r>
            <a:endParaRPr lang="en-US" sz="1100" dirty="0"/>
          </a:p>
        </p:txBody>
      </p:sp>
      <p:sp>
        <p:nvSpPr>
          <p:cNvPr id="3" name="Text 1"/>
          <p:cNvSpPr/>
          <p:nvPr/>
        </p:nvSpPr>
        <p:spPr>
          <a:xfrm>
            <a:off x="749808" y="1051560"/>
            <a:ext cx="10972800" cy="731520"/>
          </a:xfrm>
          <a:prstGeom prst="rect">
            <a:avLst/>
          </a:prstGeom>
          <a:noFill/>
          <a:ln/>
        </p:spPr>
        <p:txBody>
          <a:bodyPr wrap="square" rtlCol="0" anchor="ctr"/>
          <a:lstStyle/>
          <a:p>
            <a:pPr indent="0" marL="0">
              <a:buNone/>
            </a:pPr>
            <a:r>
              <a:rPr lang="en-US" sz="3100" b="1" dirty="0">
                <a:solidFill>
                  <a:srgbClr val="1F1B17"/>
                </a:solidFill>
                <a:latin typeface="Fraunces" pitchFamily="34" charset="0"/>
                <a:ea typeface="Fraunces" pitchFamily="34" charset="-122"/>
                <a:cs typeface="Fraunces" pitchFamily="34" charset="-120"/>
              </a:rPr>
              <a:t>DeFi makes you do the work. Cermin does it for you.</a:t>
            </a:r>
            <a:endParaRPr lang="en-US" sz="3100" dirty="0"/>
          </a:p>
        </p:txBody>
      </p:sp>
      <p:sp>
        <p:nvSpPr>
          <p:cNvPr id="4" name="Text 2"/>
          <p:cNvSpPr/>
          <p:nvPr/>
        </p:nvSpPr>
        <p:spPr>
          <a:xfrm>
            <a:off x="4160520" y="2148840"/>
            <a:ext cx="3566160" cy="365760"/>
          </a:xfrm>
          <a:prstGeom prst="rect">
            <a:avLst/>
          </a:prstGeom>
          <a:noFill/>
          <a:ln/>
        </p:spPr>
        <p:txBody>
          <a:bodyPr wrap="square" lIns="0" tIns="0" rIns="0" bIns="0" rtlCol="0" anchor="ctr"/>
          <a:lstStyle/>
          <a:p>
            <a:pPr algn="l" indent="0" marL="0">
              <a:buNone/>
            </a:pPr>
            <a:r>
              <a:rPr lang="en-US" sz="1300" b="1" dirty="0">
                <a:solidFill>
                  <a:srgbClr val="5C5448"/>
                </a:solidFill>
                <a:latin typeface="Geist" pitchFamily="34" charset="0"/>
                <a:ea typeface="Geist" pitchFamily="34" charset="-122"/>
                <a:cs typeface="Geist" pitchFamily="34" charset="-120"/>
              </a:rPr>
              <a:t>Typical DeFi</a:t>
            </a:r>
            <a:endParaRPr lang="en-US" sz="1300" dirty="0"/>
          </a:p>
        </p:txBody>
      </p:sp>
      <p:sp>
        <p:nvSpPr>
          <p:cNvPr id="5" name="Text 3"/>
          <p:cNvSpPr/>
          <p:nvPr/>
        </p:nvSpPr>
        <p:spPr>
          <a:xfrm>
            <a:off x="7955280" y="2148840"/>
            <a:ext cx="3566160" cy="365760"/>
          </a:xfrm>
          <a:prstGeom prst="rect">
            <a:avLst/>
          </a:prstGeom>
          <a:noFill/>
          <a:ln/>
        </p:spPr>
        <p:txBody>
          <a:bodyPr wrap="square" lIns="0" tIns="0" rIns="0" bIns="0" rtlCol="0" anchor="ctr"/>
          <a:lstStyle/>
          <a:p>
            <a:pPr algn="l" indent="0" marL="0">
              <a:buNone/>
            </a:pPr>
            <a:r>
              <a:rPr lang="en-US" sz="1300" b="1" dirty="0">
                <a:solidFill>
                  <a:srgbClr val="A85F26"/>
                </a:solidFill>
                <a:latin typeface="Geist" pitchFamily="34" charset="0"/>
                <a:ea typeface="Geist" pitchFamily="34" charset="-122"/>
                <a:cs typeface="Geist" pitchFamily="34" charset="-120"/>
              </a:rPr>
              <a:t>Cermin</a:t>
            </a:r>
            <a:endParaRPr lang="en-US" sz="1300" dirty="0"/>
          </a:p>
        </p:txBody>
      </p:sp>
      <p:sp>
        <p:nvSpPr>
          <p:cNvPr id="6" name="Shape 4"/>
          <p:cNvSpPr/>
          <p:nvPr/>
        </p:nvSpPr>
        <p:spPr>
          <a:xfrm>
            <a:off x="777240" y="2532888"/>
            <a:ext cx="10652760" cy="713232"/>
          </a:xfrm>
          <a:prstGeom prst="rect">
            <a:avLst/>
          </a:prstGeom>
          <a:solidFill>
            <a:srgbClr val="FAF6F0"/>
          </a:solidFill>
          <a:ln/>
        </p:spPr>
        <p:txBody>
          <a:bodyPr/>
          <a:p/>
        </p:txBody>
      </p:sp>
      <p:sp>
        <p:nvSpPr>
          <p:cNvPr id="7" name="Text 5"/>
          <p:cNvSpPr/>
          <p:nvPr/>
        </p:nvSpPr>
        <p:spPr>
          <a:xfrm>
            <a:off x="914400" y="2606040"/>
            <a:ext cx="3108960" cy="548640"/>
          </a:xfrm>
          <a:prstGeom prst="rect">
            <a:avLst/>
          </a:prstGeom>
          <a:noFill/>
          <a:ln/>
        </p:spPr>
        <p:txBody>
          <a:bodyPr wrap="square" lIns="0" tIns="0" rIns="0" bIns="0" rtlCol="0" anchor="ctr"/>
          <a:lstStyle/>
          <a:p>
            <a:pPr indent="0" marL="0">
              <a:buNone/>
            </a:pPr>
            <a:r>
              <a:rPr lang="en-US" sz="1450" b="1" dirty="0">
                <a:solidFill>
                  <a:srgbClr val="1F1B17"/>
                </a:solidFill>
                <a:latin typeface="Geist" pitchFamily="34" charset="0"/>
                <a:ea typeface="Geist" pitchFamily="34" charset="-122"/>
                <a:cs typeface="Geist" pitchFamily="34" charset="-120"/>
              </a:rPr>
              <a:t>Setup</a:t>
            </a:r>
            <a:endParaRPr lang="en-US" sz="1450" dirty="0"/>
          </a:p>
        </p:txBody>
      </p:sp>
      <p:pic>
        <p:nvPicPr>
          <p:cNvPr id="8" name="Image 0" descr="preencoded.png">    </p:cNvPr>
          <p:cNvPicPr>
            <a:picLocks noChangeAspect="1"/>
          </p:cNvPicPr>
          <p:nvPr/>
        </p:nvPicPr>
        <p:blipFill>
          <a:blip r:embed="rId1"/>
          <a:stretch>
            <a:fillRect/>
          </a:stretch>
        </p:blipFill>
        <p:spPr>
          <a:xfrm>
            <a:off x="4160520" y="2724912"/>
            <a:ext cx="292608" cy="292608"/>
          </a:xfrm>
          <a:prstGeom prst="rect">
            <a:avLst/>
          </a:prstGeom>
        </p:spPr>
      </p:pic>
      <p:sp>
        <p:nvSpPr>
          <p:cNvPr id="9" name="Text 6"/>
          <p:cNvSpPr/>
          <p:nvPr/>
        </p:nvSpPr>
        <p:spPr>
          <a:xfrm>
            <a:off x="4553712" y="2606040"/>
            <a:ext cx="3200400" cy="548640"/>
          </a:xfrm>
          <a:prstGeom prst="rect">
            <a:avLst/>
          </a:prstGeom>
          <a:noFill/>
          <a:ln/>
        </p:spPr>
        <p:txBody>
          <a:bodyPr wrap="square" lIns="0" tIns="0" rIns="0" bIns="0" rtlCol="0" anchor="ctr"/>
          <a:lstStyle/>
          <a:p>
            <a:pPr indent="0" marL="0">
              <a:buNone/>
            </a:pPr>
            <a:r>
              <a:rPr lang="en-US" sz="1350" dirty="0">
                <a:solidFill>
                  <a:srgbClr val="5C5448"/>
                </a:solidFill>
                <a:latin typeface="Geist" pitchFamily="34" charset="0"/>
                <a:ea typeface="Geist" pitchFamily="34" charset="-122"/>
                <a:cs typeface="Geist" pitchFamily="34" charset="-120"/>
              </a:rPr>
              <a:t>Read docs, do the math</a:t>
            </a:r>
            <a:endParaRPr lang="en-US" sz="1350" dirty="0"/>
          </a:p>
        </p:txBody>
      </p:sp>
      <p:pic>
        <p:nvPicPr>
          <p:cNvPr id="10" name="Image 1" descr="preencoded.png">    </p:cNvPr>
          <p:cNvPicPr>
            <a:picLocks noChangeAspect="1"/>
          </p:cNvPicPr>
          <p:nvPr/>
        </p:nvPicPr>
        <p:blipFill>
          <a:blip r:embed="rId2"/>
          <a:stretch>
            <a:fillRect/>
          </a:stretch>
        </p:blipFill>
        <p:spPr>
          <a:xfrm>
            <a:off x="7955280" y="2724912"/>
            <a:ext cx="292608" cy="292608"/>
          </a:xfrm>
          <a:prstGeom prst="rect">
            <a:avLst/>
          </a:prstGeom>
        </p:spPr>
      </p:pic>
      <p:sp>
        <p:nvSpPr>
          <p:cNvPr id="11" name="Text 7"/>
          <p:cNvSpPr/>
          <p:nvPr/>
        </p:nvSpPr>
        <p:spPr>
          <a:xfrm>
            <a:off x="8348472" y="2606040"/>
            <a:ext cx="3108960" cy="548640"/>
          </a:xfrm>
          <a:prstGeom prst="rect">
            <a:avLst/>
          </a:prstGeom>
          <a:noFill/>
          <a:ln/>
        </p:spPr>
        <p:txBody>
          <a:bodyPr wrap="square" lIns="0" tIns="0" rIns="0" bIns="0" rtlCol="0" anchor="ctr"/>
          <a:lstStyle/>
          <a:p>
            <a:pPr indent="0" marL="0">
              <a:buNone/>
            </a:pPr>
            <a:r>
              <a:rPr lang="en-US" sz="1350" b="1" dirty="0">
                <a:solidFill>
                  <a:srgbClr val="1F1B17"/>
                </a:solidFill>
                <a:latin typeface="Geist" pitchFamily="34" charset="0"/>
                <a:ea typeface="Geist" pitchFamily="34" charset="-122"/>
                <a:cs typeface="Geist" pitchFamily="34" charset="-120"/>
              </a:rPr>
              <a:t>Pick a preset. Done.</a:t>
            </a:r>
            <a:endParaRPr lang="en-US" sz="1350" dirty="0"/>
          </a:p>
        </p:txBody>
      </p:sp>
      <p:sp>
        <p:nvSpPr>
          <p:cNvPr id="12" name="Text 8"/>
          <p:cNvSpPr/>
          <p:nvPr/>
        </p:nvSpPr>
        <p:spPr>
          <a:xfrm>
            <a:off x="914400" y="3355848"/>
            <a:ext cx="3108960" cy="548640"/>
          </a:xfrm>
          <a:prstGeom prst="rect">
            <a:avLst/>
          </a:prstGeom>
          <a:noFill/>
          <a:ln/>
        </p:spPr>
        <p:txBody>
          <a:bodyPr wrap="square" lIns="0" tIns="0" rIns="0" bIns="0" rtlCol="0" anchor="ctr"/>
          <a:lstStyle/>
          <a:p>
            <a:pPr indent="0" marL="0">
              <a:buNone/>
            </a:pPr>
            <a:r>
              <a:rPr lang="en-US" sz="1450" b="1" dirty="0">
                <a:solidFill>
                  <a:srgbClr val="1F1B17"/>
                </a:solidFill>
                <a:latin typeface="Geist" pitchFamily="34" charset="0"/>
                <a:ea typeface="Geist" pitchFamily="34" charset="-122"/>
                <a:cs typeface="Geist" pitchFamily="34" charset="-120"/>
              </a:rPr>
              <a:t>Risk</a:t>
            </a:r>
            <a:endParaRPr lang="en-US" sz="1450" dirty="0"/>
          </a:p>
        </p:txBody>
      </p:sp>
      <p:pic>
        <p:nvPicPr>
          <p:cNvPr id="13" name="Image 2" descr="preencoded.png">    </p:cNvPr>
          <p:cNvPicPr>
            <a:picLocks noChangeAspect="1"/>
          </p:cNvPicPr>
          <p:nvPr/>
        </p:nvPicPr>
        <p:blipFill>
          <a:blip r:embed="rId3"/>
          <a:stretch>
            <a:fillRect/>
          </a:stretch>
        </p:blipFill>
        <p:spPr>
          <a:xfrm>
            <a:off x="4160520" y="3474720"/>
            <a:ext cx="292608" cy="292608"/>
          </a:xfrm>
          <a:prstGeom prst="rect">
            <a:avLst/>
          </a:prstGeom>
        </p:spPr>
      </p:pic>
      <p:sp>
        <p:nvSpPr>
          <p:cNvPr id="14" name="Text 9"/>
          <p:cNvSpPr/>
          <p:nvPr/>
        </p:nvSpPr>
        <p:spPr>
          <a:xfrm>
            <a:off x="4553712" y="3355848"/>
            <a:ext cx="3200400" cy="548640"/>
          </a:xfrm>
          <a:prstGeom prst="rect">
            <a:avLst/>
          </a:prstGeom>
          <a:noFill/>
          <a:ln/>
        </p:spPr>
        <p:txBody>
          <a:bodyPr wrap="square" lIns="0" tIns="0" rIns="0" bIns="0" rtlCol="0" anchor="ctr"/>
          <a:lstStyle/>
          <a:p>
            <a:pPr indent="0" marL="0">
              <a:buNone/>
            </a:pPr>
            <a:r>
              <a:rPr lang="en-US" sz="1350" dirty="0">
                <a:solidFill>
                  <a:srgbClr val="5C5448"/>
                </a:solidFill>
                <a:latin typeface="Geist" pitchFamily="34" charset="0"/>
                <a:ea typeface="Geist" pitchFamily="34" charset="-122"/>
                <a:cs typeface="Geist" pitchFamily="34" charset="-120"/>
              </a:rPr>
              <a:t>You watch it, 24/7</a:t>
            </a:r>
            <a:endParaRPr lang="en-US" sz="1350" dirty="0"/>
          </a:p>
        </p:txBody>
      </p:sp>
      <p:pic>
        <p:nvPicPr>
          <p:cNvPr id="15" name="Image 3" descr="preencoded.png">    </p:cNvPr>
          <p:cNvPicPr>
            <a:picLocks noChangeAspect="1"/>
          </p:cNvPicPr>
          <p:nvPr/>
        </p:nvPicPr>
        <p:blipFill>
          <a:blip r:embed="rId4"/>
          <a:stretch>
            <a:fillRect/>
          </a:stretch>
        </p:blipFill>
        <p:spPr>
          <a:xfrm>
            <a:off x="7955280" y="3474720"/>
            <a:ext cx="292608" cy="292608"/>
          </a:xfrm>
          <a:prstGeom prst="rect">
            <a:avLst/>
          </a:prstGeom>
        </p:spPr>
      </p:pic>
      <p:sp>
        <p:nvSpPr>
          <p:cNvPr id="16" name="Text 10"/>
          <p:cNvSpPr/>
          <p:nvPr/>
        </p:nvSpPr>
        <p:spPr>
          <a:xfrm>
            <a:off x="8348472" y="3355848"/>
            <a:ext cx="3108960" cy="548640"/>
          </a:xfrm>
          <a:prstGeom prst="rect">
            <a:avLst/>
          </a:prstGeom>
          <a:noFill/>
          <a:ln/>
        </p:spPr>
        <p:txBody>
          <a:bodyPr wrap="square" lIns="0" tIns="0" rIns="0" bIns="0" rtlCol="0" anchor="ctr"/>
          <a:lstStyle/>
          <a:p>
            <a:pPr indent="0" marL="0">
              <a:buNone/>
            </a:pPr>
            <a:r>
              <a:rPr lang="en-US" sz="1350" b="1" dirty="0">
                <a:solidFill>
                  <a:srgbClr val="1F1B17"/>
                </a:solidFill>
                <a:latin typeface="Geist" pitchFamily="34" charset="0"/>
                <a:ea typeface="Geist" pitchFamily="34" charset="-122"/>
                <a:cs typeface="Geist" pitchFamily="34" charset="-120"/>
              </a:rPr>
              <a:t>Cermin watches it for you</a:t>
            </a:r>
            <a:endParaRPr lang="en-US" sz="1350" dirty="0"/>
          </a:p>
        </p:txBody>
      </p:sp>
      <p:sp>
        <p:nvSpPr>
          <p:cNvPr id="17" name="Shape 11"/>
          <p:cNvSpPr/>
          <p:nvPr/>
        </p:nvSpPr>
        <p:spPr>
          <a:xfrm>
            <a:off x="777240" y="4032504"/>
            <a:ext cx="10652760" cy="713232"/>
          </a:xfrm>
          <a:prstGeom prst="rect">
            <a:avLst/>
          </a:prstGeom>
          <a:solidFill>
            <a:srgbClr val="FAF6F0"/>
          </a:solidFill>
          <a:ln/>
        </p:spPr>
        <p:txBody>
          <a:bodyPr/>
          <a:p/>
        </p:txBody>
      </p:sp>
      <p:sp>
        <p:nvSpPr>
          <p:cNvPr id="18" name="Text 12"/>
          <p:cNvSpPr/>
          <p:nvPr/>
        </p:nvSpPr>
        <p:spPr>
          <a:xfrm>
            <a:off x="914400" y="4105656"/>
            <a:ext cx="3108960" cy="548640"/>
          </a:xfrm>
          <a:prstGeom prst="rect">
            <a:avLst/>
          </a:prstGeom>
          <a:noFill/>
          <a:ln/>
        </p:spPr>
        <p:txBody>
          <a:bodyPr wrap="square" lIns="0" tIns="0" rIns="0" bIns="0" rtlCol="0" anchor="ctr"/>
          <a:lstStyle/>
          <a:p>
            <a:pPr indent="0" marL="0">
              <a:buNone/>
            </a:pPr>
            <a:r>
              <a:rPr lang="en-US" sz="1450" b="1" dirty="0">
                <a:solidFill>
                  <a:srgbClr val="1F1B17"/>
                </a:solidFill>
                <a:latin typeface="Geist" pitchFamily="34" charset="0"/>
                <a:ea typeface="Geist" pitchFamily="34" charset="-122"/>
                <a:cs typeface="Geist" pitchFamily="34" charset="-120"/>
              </a:rPr>
              <a:t>Yield</a:t>
            </a:r>
            <a:endParaRPr lang="en-US" sz="1450" dirty="0"/>
          </a:p>
        </p:txBody>
      </p:sp>
      <p:pic>
        <p:nvPicPr>
          <p:cNvPr id="19" name="Image 4" descr="preencoded.png">    </p:cNvPr>
          <p:cNvPicPr>
            <a:picLocks noChangeAspect="1"/>
          </p:cNvPicPr>
          <p:nvPr/>
        </p:nvPicPr>
        <p:blipFill>
          <a:blip r:embed="rId5"/>
          <a:stretch>
            <a:fillRect/>
          </a:stretch>
        </p:blipFill>
        <p:spPr>
          <a:xfrm>
            <a:off x="4160520" y="4224528"/>
            <a:ext cx="292608" cy="292608"/>
          </a:xfrm>
          <a:prstGeom prst="rect">
            <a:avLst/>
          </a:prstGeom>
        </p:spPr>
      </p:pic>
      <p:sp>
        <p:nvSpPr>
          <p:cNvPr id="20" name="Text 13"/>
          <p:cNvSpPr/>
          <p:nvPr/>
        </p:nvSpPr>
        <p:spPr>
          <a:xfrm>
            <a:off x="4553712" y="4105656"/>
            <a:ext cx="3200400" cy="548640"/>
          </a:xfrm>
          <a:prstGeom prst="rect">
            <a:avLst/>
          </a:prstGeom>
          <a:noFill/>
          <a:ln/>
        </p:spPr>
        <p:txBody>
          <a:bodyPr wrap="square" lIns="0" tIns="0" rIns="0" bIns="0" rtlCol="0" anchor="ctr"/>
          <a:lstStyle/>
          <a:p>
            <a:pPr indent="0" marL="0">
              <a:buNone/>
            </a:pPr>
            <a:r>
              <a:rPr lang="en-US" sz="1350" dirty="0">
                <a:solidFill>
                  <a:srgbClr val="5C5448"/>
                </a:solidFill>
                <a:latin typeface="Geist" pitchFamily="34" charset="0"/>
                <a:ea typeface="Geist" pitchFamily="34" charset="-122"/>
                <a:cs typeface="Geist" pitchFamily="34" charset="-120"/>
              </a:rPr>
              <a:t>Hunt for yield yourself</a:t>
            </a:r>
            <a:endParaRPr lang="en-US" sz="1350" dirty="0"/>
          </a:p>
        </p:txBody>
      </p:sp>
      <p:pic>
        <p:nvPicPr>
          <p:cNvPr id="21" name="Image 5" descr="preencoded.png">    </p:cNvPr>
          <p:cNvPicPr>
            <a:picLocks noChangeAspect="1"/>
          </p:cNvPicPr>
          <p:nvPr/>
        </p:nvPicPr>
        <p:blipFill>
          <a:blip r:embed="rId6"/>
          <a:stretch>
            <a:fillRect/>
          </a:stretch>
        </p:blipFill>
        <p:spPr>
          <a:xfrm>
            <a:off x="7955280" y="4224528"/>
            <a:ext cx="292608" cy="292608"/>
          </a:xfrm>
          <a:prstGeom prst="rect">
            <a:avLst/>
          </a:prstGeom>
        </p:spPr>
      </p:pic>
      <p:sp>
        <p:nvSpPr>
          <p:cNvPr id="22" name="Text 14"/>
          <p:cNvSpPr/>
          <p:nvPr/>
        </p:nvSpPr>
        <p:spPr>
          <a:xfrm>
            <a:off x="8348472" y="4105656"/>
            <a:ext cx="3108960" cy="548640"/>
          </a:xfrm>
          <a:prstGeom prst="rect">
            <a:avLst/>
          </a:prstGeom>
          <a:noFill/>
          <a:ln/>
        </p:spPr>
        <p:txBody>
          <a:bodyPr wrap="square" lIns="0" tIns="0" rIns="0" bIns="0" rtlCol="0" anchor="ctr"/>
          <a:lstStyle/>
          <a:p>
            <a:pPr indent="0" marL="0">
              <a:buNone/>
            </a:pPr>
            <a:r>
              <a:rPr lang="en-US" sz="1350" b="1" dirty="0">
                <a:solidFill>
                  <a:srgbClr val="1F1B17"/>
                </a:solidFill>
                <a:latin typeface="Geist" pitchFamily="34" charset="0"/>
                <a:ea typeface="Geist" pitchFamily="34" charset="-122"/>
                <a:cs typeface="Geist" pitchFamily="34" charset="-120"/>
              </a:rPr>
              <a:t>Earns yield automatically</a:t>
            </a:r>
            <a:endParaRPr lang="en-US" sz="1350" dirty="0"/>
          </a:p>
        </p:txBody>
      </p:sp>
      <p:sp>
        <p:nvSpPr>
          <p:cNvPr id="23" name="Text 15"/>
          <p:cNvSpPr/>
          <p:nvPr/>
        </p:nvSpPr>
        <p:spPr>
          <a:xfrm>
            <a:off x="914400" y="4855464"/>
            <a:ext cx="3108960" cy="548640"/>
          </a:xfrm>
          <a:prstGeom prst="rect">
            <a:avLst/>
          </a:prstGeom>
          <a:noFill/>
          <a:ln/>
        </p:spPr>
        <p:txBody>
          <a:bodyPr wrap="square" lIns="0" tIns="0" rIns="0" bIns="0" rtlCol="0" anchor="ctr"/>
          <a:lstStyle/>
          <a:p>
            <a:pPr indent="0" marL="0">
              <a:buNone/>
            </a:pPr>
            <a:r>
              <a:rPr lang="en-US" sz="1450" b="1" dirty="0">
                <a:solidFill>
                  <a:srgbClr val="1F1B17"/>
                </a:solidFill>
                <a:latin typeface="Geist" pitchFamily="34" charset="0"/>
                <a:ea typeface="Geist" pitchFamily="34" charset="-122"/>
                <a:cs typeface="Geist" pitchFamily="34" charset="-120"/>
              </a:rPr>
              <a:t>Strategy</a:t>
            </a:r>
            <a:endParaRPr lang="en-US" sz="1450" dirty="0"/>
          </a:p>
        </p:txBody>
      </p:sp>
      <p:pic>
        <p:nvPicPr>
          <p:cNvPr id="24" name="Image 6" descr="preencoded.png">    </p:cNvPr>
          <p:cNvPicPr>
            <a:picLocks noChangeAspect="1"/>
          </p:cNvPicPr>
          <p:nvPr/>
        </p:nvPicPr>
        <p:blipFill>
          <a:blip r:embed="rId7"/>
          <a:stretch>
            <a:fillRect/>
          </a:stretch>
        </p:blipFill>
        <p:spPr>
          <a:xfrm>
            <a:off x="4160520" y="4974336"/>
            <a:ext cx="292608" cy="292608"/>
          </a:xfrm>
          <a:prstGeom prst="rect">
            <a:avLst/>
          </a:prstGeom>
        </p:spPr>
      </p:pic>
      <p:sp>
        <p:nvSpPr>
          <p:cNvPr id="25" name="Text 16"/>
          <p:cNvSpPr/>
          <p:nvPr/>
        </p:nvSpPr>
        <p:spPr>
          <a:xfrm>
            <a:off x="4553712" y="4855464"/>
            <a:ext cx="3200400" cy="548640"/>
          </a:xfrm>
          <a:prstGeom prst="rect">
            <a:avLst/>
          </a:prstGeom>
          <a:noFill/>
          <a:ln/>
        </p:spPr>
        <p:txBody>
          <a:bodyPr wrap="square" lIns="0" tIns="0" rIns="0" bIns="0" rtlCol="0" anchor="ctr"/>
          <a:lstStyle/>
          <a:p>
            <a:pPr indent="0" marL="0">
              <a:buNone/>
            </a:pPr>
            <a:r>
              <a:rPr lang="en-US" sz="1350" dirty="0">
                <a:solidFill>
                  <a:srgbClr val="5C5448"/>
                </a:solidFill>
                <a:latin typeface="Geist" pitchFamily="34" charset="0"/>
                <a:ea typeface="Geist" pitchFamily="34" charset="-122"/>
                <a:cs typeface="Geist" pitchFamily="34" charset="-120"/>
              </a:rPr>
              <a:t>Set once, never changes</a:t>
            </a:r>
            <a:endParaRPr lang="en-US" sz="1350" dirty="0"/>
          </a:p>
        </p:txBody>
      </p:sp>
      <p:pic>
        <p:nvPicPr>
          <p:cNvPr id="26" name="Image 7" descr="preencoded.png">    </p:cNvPr>
          <p:cNvPicPr>
            <a:picLocks noChangeAspect="1"/>
          </p:cNvPicPr>
          <p:nvPr/>
        </p:nvPicPr>
        <p:blipFill>
          <a:blip r:embed="rId8"/>
          <a:stretch>
            <a:fillRect/>
          </a:stretch>
        </p:blipFill>
        <p:spPr>
          <a:xfrm>
            <a:off x="7955280" y="4974336"/>
            <a:ext cx="292608" cy="292608"/>
          </a:xfrm>
          <a:prstGeom prst="rect">
            <a:avLst/>
          </a:prstGeom>
        </p:spPr>
      </p:pic>
      <p:sp>
        <p:nvSpPr>
          <p:cNvPr id="27" name="Text 17"/>
          <p:cNvSpPr/>
          <p:nvPr/>
        </p:nvSpPr>
        <p:spPr>
          <a:xfrm>
            <a:off x="8348472" y="4855464"/>
            <a:ext cx="3108960" cy="548640"/>
          </a:xfrm>
          <a:prstGeom prst="rect">
            <a:avLst/>
          </a:prstGeom>
          <a:noFill/>
          <a:ln/>
        </p:spPr>
        <p:txBody>
          <a:bodyPr wrap="square" lIns="0" tIns="0" rIns="0" bIns="0" rtlCol="0" anchor="ctr"/>
          <a:lstStyle/>
          <a:p>
            <a:pPr indent="0" marL="0">
              <a:buNone/>
            </a:pPr>
            <a:r>
              <a:rPr lang="en-US" sz="1350" b="1" dirty="0">
                <a:solidFill>
                  <a:srgbClr val="1F1B17"/>
                </a:solidFill>
                <a:latin typeface="Geist" pitchFamily="34" charset="0"/>
                <a:ea typeface="Geist" pitchFamily="34" charset="-122"/>
                <a:cs typeface="Geist" pitchFamily="34" charset="-120"/>
              </a:rPr>
              <a:t>Adapts as BTC moves</a:t>
            </a:r>
            <a:endParaRPr lang="en-US" sz="1350" dirty="0"/>
          </a:p>
        </p:txBody>
      </p:sp>
      <p:sp>
        <p:nvSpPr>
          <p:cNvPr id="28" name="Shape 18"/>
          <p:cNvSpPr/>
          <p:nvPr/>
        </p:nvSpPr>
        <p:spPr>
          <a:xfrm>
            <a:off x="777240" y="5532120"/>
            <a:ext cx="10652760" cy="713232"/>
          </a:xfrm>
          <a:prstGeom prst="rect">
            <a:avLst/>
          </a:prstGeom>
          <a:solidFill>
            <a:srgbClr val="FAF6F0"/>
          </a:solidFill>
          <a:ln/>
        </p:spPr>
        <p:txBody>
          <a:bodyPr/>
          <a:p/>
        </p:txBody>
      </p:sp>
      <p:sp>
        <p:nvSpPr>
          <p:cNvPr id="29" name="Text 19"/>
          <p:cNvSpPr/>
          <p:nvPr/>
        </p:nvSpPr>
        <p:spPr>
          <a:xfrm>
            <a:off x="914400" y="5605272"/>
            <a:ext cx="3108960" cy="548640"/>
          </a:xfrm>
          <a:prstGeom prst="rect">
            <a:avLst/>
          </a:prstGeom>
          <a:noFill/>
          <a:ln/>
        </p:spPr>
        <p:txBody>
          <a:bodyPr wrap="square" lIns="0" tIns="0" rIns="0" bIns="0" rtlCol="0" anchor="ctr"/>
          <a:lstStyle/>
          <a:p>
            <a:pPr indent="0" marL="0">
              <a:buNone/>
            </a:pPr>
            <a:r>
              <a:rPr lang="en-US" sz="1450" b="1" dirty="0">
                <a:solidFill>
                  <a:srgbClr val="1F1B17"/>
                </a:solidFill>
                <a:latin typeface="Geist" pitchFamily="34" charset="0"/>
                <a:ea typeface="Geist" pitchFamily="34" charset="-122"/>
                <a:cs typeface="Geist" pitchFamily="34" charset="-120"/>
              </a:rPr>
              <a:t>Feel</a:t>
            </a:r>
            <a:endParaRPr lang="en-US" sz="1450" dirty="0"/>
          </a:p>
        </p:txBody>
      </p:sp>
      <p:pic>
        <p:nvPicPr>
          <p:cNvPr id="30" name="Image 8" descr="preencoded.png">    </p:cNvPr>
          <p:cNvPicPr>
            <a:picLocks noChangeAspect="1"/>
          </p:cNvPicPr>
          <p:nvPr/>
        </p:nvPicPr>
        <p:blipFill>
          <a:blip r:embed="rId9"/>
          <a:stretch>
            <a:fillRect/>
          </a:stretch>
        </p:blipFill>
        <p:spPr>
          <a:xfrm>
            <a:off x="4160520" y="5724144"/>
            <a:ext cx="292608" cy="292608"/>
          </a:xfrm>
          <a:prstGeom prst="rect">
            <a:avLst/>
          </a:prstGeom>
        </p:spPr>
      </p:pic>
      <p:sp>
        <p:nvSpPr>
          <p:cNvPr id="31" name="Text 20"/>
          <p:cNvSpPr/>
          <p:nvPr/>
        </p:nvSpPr>
        <p:spPr>
          <a:xfrm>
            <a:off x="4553712" y="5605272"/>
            <a:ext cx="3200400" cy="548640"/>
          </a:xfrm>
          <a:prstGeom prst="rect">
            <a:avLst/>
          </a:prstGeom>
          <a:noFill/>
          <a:ln/>
        </p:spPr>
        <p:txBody>
          <a:bodyPr wrap="square" lIns="0" tIns="0" rIns="0" bIns="0" rtlCol="0" anchor="ctr"/>
          <a:lstStyle/>
          <a:p>
            <a:pPr indent="0" marL="0">
              <a:buNone/>
            </a:pPr>
            <a:r>
              <a:rPr lang="en-US" sz="1350" dirty="0">
                <a:solidFill>
                  <a:srgbClr val="5C5448"/>
                </a:solidFill>
                <a:latin typeface="Geist" pitchFamily="34" charset="0"/>
                <a:ea typeface="Geist" pitchFamily="34" charset="-122"/>
                <a:cs typeface="Geist" pitchFamily="34" charset="-120"/>
              </a:rPr>
              <a:t>Feels like a spreadsheet</a:t>
            </a:r>
            <a:endParaRPr lang="en-US" sz="1350" dirty="0"/>
          </a:p>
        </p:txBody>
      </p:sp>
      <p:pic>
        <p:nvPicPr>
          <p:cNvPr id="32" name="Image 9" descr="preencoded.png">    </p:cNvPr>
          <p:cNvPicPr>
            <a:picLocks noChangeAspect="1"/>
          </p:cNvPicPr>
          <p:nvPr/>
        </p:nvPicPr>
        <p:blipFill>
          <a:blip r:embed="rId10"/>
          <a:stretch>
            <a:fillRect/>
          </a:stretch>
        </p:blipFill>
        <p:spPr>
          <a:xfrm>
            <a:off x="7955280" y="5724144"/>
            <a:ext cx="292608" cy="292608"/>
          </a:xfrm>
          <a:prstGeom prst="rect">
            <a:avLst/>
          </a:prstGeom>
        </p:spPr>
      </p:pic>
      <p:sp>
        <p:nvSpPr>
          <p:cNvPr id="33" name="Text 21"/>
          <p:cNvSpPr/>
          <p:nvPr/>
        </p:nvSpPr>
        <p:spPr>
          <a:xfrm>
            <a:off x="8348472" y="5605272"/>
            <a:ext cx="3108960" cy="548640"/>
          </a:xfrm>
          <a:prstGeom prst="rect">
            <a:avLst/>
          </a:prstGeom>
          <a:noFill/>
          <a:ln/>
        </p:spPr>
        <p:txBody>
          <a:bodyPr wrap="square" lIns="0" tIns="0" rIns="0" bIns="0" rtlCol="0" anchor="ctr"/>
          <a:lstStyle/>
          <a:p>
            <a:pPr indent="0" marL="0">
              <a:buNone/>
            </a:pPr>
            <a:r>
              <a:rPr lang="en-US" sz="1350" b="1" dirty="0">
                <a:solidFill>
                  <a:srgbClr val="1F1B17"/>
                </a:solidFill>
                <a:latin typeface="Geist" pitchFamily="34" charset="0"/>
                <a:ea typeface="Geist" pitchFamily="34" charset="-122"/>
                <a:cs typeface="Geist" pitchFamily="34" charset="-120"/>
              </a:rPr>
              <a:t>Feels like a bank app</a:t>
            </a:r>
            <a:endParaRPr lang="en-US" sz="13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lIns="0" rIns="0" tIns="0" bIns="0">
            <a:spAutoFit/>
          </a:bodyPr>
          <a:lstStyle/>
          <a:p>
            <a:pPr algn="l">
              <a:spcAft>
                <a:spcPts val="200"/>
              </a:spcAft>
            </a:pPr>
            <a:r>
              <a:rPr sz="1100" b="1" spc="200">
                <a:solidFill>
                  <a:srgbClr val="A85F26"/>
                </a:solidFill>
                <a:latin typeface="Geist"/>
              </a:rPr>
              <a:t>ON-CHAIN PROOF</a:t>
            </a:r>
          </a:p>
        </p:txBody>
      </p:sp>
      <p:sp>
        <p:nvSpPr>
          <p:cNvPr id="3" name="TextBox 2"/>
          <p:cNvSpPr txBox="1"/>
          <p:nvPr/>
        </p:nvSpPr>
        <p:spPr>
          <a:xfrm>
            <a:off x="640080" y="822960"/>
            <a:ext cx="10972800" cy="640080"/>
          </a:xfrm>
          <a:prstGeom prst="rect">
            <a:avLst/>
          </a:prstGeom>
          <a:noFill/>
        </p:spPr>
        <p:txBody>
          <a:bodyPr wrap="square" lIns="0" rIns="0" tIns="0" bIns="0">
            <a:spAutoFit/>
          </a:bodyPr>
          <a:lstStyle/>
          <a:p>
            <a:pPr algn="l">
              <a:spcAft>
                <a:spcPts val="200"/>
              </a:spcAft>
            </a:pPr>
            <a:r>
              <a:rPr sz="3200" b="1">
                <a:solidFill>
                  <a:srgbClr val="1F1B17"/>
                </a:solidFill>
                <a:latin typeface="Fraunces"/>
              </a:rPr>
              <a:t>It defends itself.</a:t>
            </a:r>
          </a:p>
        </p:txBody>
      </p:sp>
      <p:sp>
        <p:nvSpPr>
          <p:cNvPr id="4" name="TextBox 3"/>
          <p:cNvSpPr txBox="1"/>
          <p:nvPr/>
        </p:nvSpPr>
        <p:spPr>
          <a:xfrm>
            <a:off x="640080" y="1481328"/>
            <a:ext cx="10881360" cy="457200"/>
          </a:xfrm>
          <a:prstGeom prst="rect">
            <a:avLst/>
          </a:prstGeom>
          <a:noFill/>
        </p:spPr>
        <p:txBody>
          <a:bodyPr wrap="square" lIns="0" rIns="0" tIns="0" bIns="0">
            <a:spAutoFit/>
          </a:bodyPr>
          <a:lstStyle/>
          <a:p>
            <a:pPr algn="l">
              <a:spcAft>
                <a:spcPts val="200"/>
              </a:spcAft>
            </a:pPr>
            <a:r>
              <a:rPr sz="1400" b="0">
                <a:solidFill>
                  <a:srgbClr val="1F1B17"/>
                </a:solidFill>
                <a:latin typeface="Geist"/>
              </a:rPr>
              <a:t>BTC dropped 15% in a month. Cermin defended 5 times — never close to liquidation.</a:t>
            </a:r>
          </a:p>
        </p:txBody>
      </p:sp>
      <p:pic>
        <p:nvPicPr>
          <p:cNvPr id="5" name="Picture 4" descr="cermin-chart.png"/>
          <p:cNvPicPr>
            <a:picLocks noChangeAspect="1"/>
          </p:cNvPicPr>
          <p:nvPr/>
        </p:nvPicPr>
        <p:blipFill>
          <a:blip r:embed="rId2"/>
          <a:stretch>
            <a:fillRect/>
          </a:stretch>
        </p:blipFill>
        <p:spPr>
          <a:xfrm>
            <a:off x="1252728" y="2011680"/>
            <a:ext cx="9692640" cy="3944778"/>
          </a:xfrm>
          <a:prstGeom prst="rect">
            <a:avLst/>
          </a:prstGeom>
        </p:spPr>
      </p:pic>
      <p:sp>
        <p:nvSpPr>
          <p:cNvPr id="6" name="TextBox 5"/>
          <p:cNvSpPr txBox="1"/>
          <p:nvPr/>
        </p:nvSpPr>
        <p:spPr>
          <a:xfrm>
            <a:off x="640080" y="6053328"/>
            <a:ext cx="10881360" cy="457200"/>
          </a:xfrm>
          <a:prstGeom prst="rect">
            <a:avLst/>
          </a:prstGeom>
          <a:noFill/>
        </p:spPr>
        <p:txBody>
          <a:bodyPr wrap="square" lIns="0" rIns="0" tIns="0" bIns="0">
            <a:spAutoFit/>
          </a:bodyPr>
          <a:lstStyle/>
          <a:p>
            <a:pPr algn="l">
              <a:spcAft>
                <a:spcPts val="200"/>
              </a:spcAft>
            </a:pPr>
            <a:r>
              <a:rPr sz="1200" b="1">
                <a:solidFill>
                  <a:srgbClr val="A85F26"/>
                </a:solidFill>
                <a:latin typeface="Geist"/>
              </a:rPr>
              <a:t>Defense $65,757 held</a:t>
            </a:r>
            <a:r>
              <a:rPr sz="1200" b="0">
                <a:solidFill>
                  <a:srgbClr val="6E6256"/>
                </a:solidFill>
                <a:latin typeface="Geist"/>
              </a:rPr>
              <a:t>   ·   liquidation $57,862 never touched   ·   </a:t>
            </a:r>
            <a:r>
              <a:rPr sz="1200" b="1">
                <a:solidFill>
                  <a:srgbClr val="4E7A3C"/>
                </a:solidFill>
                <a:latin typeface="Geist"/>
              </a:rPr>
              <a:t>verified on Mezo testnet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lIns="0" rIns="0" tIns="0" bIns="0">
            <a:spAutoFit/>
          </a:bodyPr>
          <a:lstStyle/>
          <a:p>
            <a:pPr algn="l">
              <a:spcAft>
                <a:spcPts val="200"/>
              </a:spcAft>
            </a:pPr>
            <a:r>
              <a:rPr sz="1100" b="1" spc="200">
                <a:solidFill>
                  <a:srgbClr val="A85F26"/>
                </a:solidFill>
                <a:latin typeface="Geist"/>
              </a:rPr>
              <a:t>LIVE ON MEZO TESTNET</a:t>
            </a:r>
          </a:p>
        </p:txBody>
      </p:sp>
      <p:sp>
        <p:nvSpPr>
          <p:cNvPr id="3" name="TextBox 2"/>
          <p:cNvSpPr txBox="1"/>
          <p:nvPr/>
        </p:nvSpPr>
        <p:spPr>
          <a:xfrm>
            <a:off x="640080" y="822960"/>
            <a:ext cx="11155680" cy="640080"/>
          </a:xfrm>
          <a:prstGeom prst="rect">
            <a:avLst/>
          </a:prstGeom>
          <a:noFill/>
        </p:spPr>
        <p:txBody>
          <a:bodyPr wrap="square" lIns="0" rIns="0" tIns="0" bIns="0">
            <a:spAutoFit/>
          </a:bodyPr>
          <a:lstStyle/>
          <a:p>
            <a:pPr algn="l">
              <a:spcAft>
                <a:spcPts val="200"/>
              </a:spcAft>
            </a:pPr>
            <a:r>
              <a:rPr sz="3200" b="1">
                <a:solidFill>
                  <a:srgbClr val="1F1B17"/>
                </a:solidFill>
                <a:latin typeface="Fraunces"/>
              </a:rPr>
              <a:t>Five auto-defends. Zero liquidations.</a:t>
            </a:r>
          </a:p>
        </p:txBody>
      </p:sp>
      <p:sp>
        <p:nvSpPr>
          <p:cNvPr id="4" name="TextBox 3"/>
          <p:cNvSpPr txBox="1"/>
          <p:nvPr/>
        </p:nvSpPr>
        <p:spPr>
          <a:xfrm>
            <a:off x="640080" y="1481328"/>
            <a:ext cx="10881360" cy="457200"/>
          </a:xfrm>
          <a:prstGeom prst="rect">
            <a:avLst/>
          </a:prstGeom>
          <a:noFill/>
        </p:spPr>
        <p:txBody>
          <a:bodyPr wrap="square" lIns="0" rIns="0" tIns="0" bIns="0">
            <a:spAutoFit/>
          </a:bodyPr>
          <a:lstStyle/>
          <a:p>
            <a:pPr algn="l">
              <a:spcAft>
                <a:spcPts val="200"/>
              </a:spcAft>
            </a:pPr>
            <a:r>
              <a:rPr sz="1400" b="0">
                <a:solidFill>
                  <a:srgbClr val="1F1B17"/>
                </a:solidFill>
                <a:latin typeface="Geist"/>
              </a:rPr>
              <a:t>The real app — and its real on-chain history.</a:t>
            </a:r>
          </a:p>
        </p:txBody>
      </p:sp>
      <p:pic>
        <p:nvPicPr>
          <p:cNvPr id="5" name="Picture 4" descr="cermin-dashboard.png"/>
          <p:cNvPicPr>
            <a:picLocks noChangeAspect="1"/>
          </p:cNvPicPr>
          <p:nvPr/>
        </p:nvPicPr>
        <p:blipFill>
          <a:blip r:embed="rId2"/>
          <a:stretch>
            <a:fillRect/>
          </a:stretch>
        </p:blipFill>
        <p:spPr>
          <a:xfrm>
            <a:off x="685800" y="2194560"/>
            <a:ext cx="4876038" cy="3429000"/>
          </a:xfrm>
          <a:prstGeom prst="rect">
            <a:avLst/>
          </a:prstGeom>
        </p:spPr>
      </p:pic>
      <p:pic>
        <p:nvPicPr>
          <p:cNvPr id="6" name="Picture 5" descr="cermin-activity.png"/>
          <p:cNvPicPr>
            <a:picLocks noChangeAspect="1"/>
          </p:cNvPicPr>
          <p:nvPr/>
        </p:nvPicPr>
        <p:blipFill>
          <a:blip r:embed="rId3"/>
          <a:stretch>
            <a:fillRect/>
          </a:stretch>
        </p:blipFill>
        <p:spPr>
          <a:xfrm>
            <a:off x="5943600" y="2514600"/>
            <a:ext cx="5715000" cy="2424692"/>
          </a:xfrm>
          <a:prstGeom prst="rect">
            <a:avLst/>
          </a:prstGeom>
        </p:spPr>
      </p:pic>
      <p:sp>
        <p:nvSpPr>
          <p:cNvPr id="7" name="TextBox 6"/>
          <p:cNvSpPr txBox="1"/>
          <p:nvPr/>
        </p:nvSpPr>
        <p:spPr>
          <a:xfrm>
            <a:off x="5943600" y="5257800"/>
            <a:ext cx="5760720" cy="1097280"/>
          </a:xfrm>
          <a:prstGeom prst="rect">
            <a:avLst/>
          </a:prstGeom>
          <a:noFill/>
        </p:spPr>
        <p:txBody>
          <a:bodyPr wrap="square" lIns="0" rIns="0" tIns="0" bIns="0">
            <a:spAutoFit/>
          </a:bodyPr>
          <a:lstStyle/>
          <a:p>
            <a:pPr algn="l">
              <a:spcAft>
                <a:spcPts val="300"/>
              </a:spcAft>
            </a:pPr>
            <a:r>
              <a:rPr sz="1100" b="1">
                <a:solidFill>
                  <a:srgbClr val="1F1B17"/>
                </a:solidFill>
                <a:latin typeface="Geist"/>
              </a:rPr>
              <a:t>Defended transactions — verify on-chain:</a:t>
            </a:r>
          </a:p>
          <a:p>
            <a:pPr algn="l">
              <a:spcAft>
                <a:spcPts val="300"/>
              </a:spcAft>
            </a:pPr>
            <a:r>
              <a:rPr sz="1050" b="0">
                <a:solidFill>
                  <a:srgbClr val="A85F26"/>
                </a:solidFill>
                <a:latin typeface="Geist"/>
              </a:rPr>
              <a:t>explorer.test.mezo.org/tx/0x558e48ee…f5df1586</a:t>
            </a:r>
          </a:p>
          <a:p>
            <a:pPr algn="l">
              <a:spcAft>
                <a:spcPts val="300"/>
              </a:spcAft>
            </a:pPr>
            <a:r>
              <a:rPr sz="1050" b="0">
                <a:solidFill>
                  <a:srgbClr val="A85F26"/>
                </a:solidFill>
                <a:latin typeface="Geist"/>
              </a:rPr>
              <a:t>explorer.test.mezo.org/tx/0x622302fb…4916b6a3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1F1B17"/>
        </a:solidFill>
      </p:bgPr>
    </p:bg>
    <p:spTree>
      <p:nvGrpSpPr>
        <p:cNvPr id="1" name=""/>
        <p:cNvGrpSpPr/>
        <p:nvPr/>
      </p:nvGrpSpPr>
      <p:grpSpPr>
        <a:xfrm>
          <a:off x="0" y="0"/>
          <a:ext cx="0" cy="0"/>
          <a:chOff x="0" y="0"/>
          <a:chExt cx="0" cy="0"/>
        </a:xfrm>
      </p:grpSpPr>
      <p:pic>
        <p:nvPicPr>
          <p:cNvPr id="2" name="Image 0" descr="/sessions/kind-sharp-feynman/mnt/outputs/deck/img/dawn.pn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F1B17">
              <a:alpha val="62000"/>
            </a:srgbClr>
          </a:solidFill>
          <a:ln/>
        </p:spPr>
        <p:txBody>
          <a:bodyPr/>
          <a:p/>
        </p:txBody>
      </p:sp>
      <p:sp>
        <p:nvSpPr>
          <p:cNvPr id="4" name="Shape 1"/>
          <p:cNvSpPr/>
          <p:nvPr/>
        </p:nvSpPr>
        <p:spPr>
          <a:xfrm>
            <a:off x="0" y="2194560"/>
            <a:ext cx="12188952" cy="2560320"/>
          </a:xfrm>
          <a:prstGeom prst="rect">
            <a:avLst/>
          </a:prstGeom>
          <a:solidFill>
            <a:srgbClr val="1F1B17">
              <a:alpha val="72000"/>
            </a:srgbClr>
          </a:solidFill>
          <a:ln/>
        </p:spPr>
        <p:txBody>
          <a:bodyPr/>
          <a:p/>
        </p:txBody>
      </p:sp>
      <p:pic>
        <p:nvPicPr>
          <p:cNvPr id="5" name="Image 1" descr="/sessions/kind-sharp-feynman/mnt/outputs/deck/img/logo_cream.png">    </p:cNvPr>
          <p:cNvPicPr>
            <a:picLocks noChangeAspect="1"/>
          </p:cNvPicPr>
          <p:nvPr/>
        </p:nvPicPr>
        <p:blipFill>
          <a:blip r:embed="rId2"/>
          <a:stretch>
            <a:fillRect/>
          </a:stretch>
        </p:blipFill>
        <p:spPr>
          <a:xfrm>
            <a:off x="5650992" y="868680"/>
            <a:ext cx="868680" cy="914400"/>
          </a:xfrm>
          <a:prstGeom prst="rect">
            <a:avLst/>
          </a:prstGeom>
        </p:spPr>
      </p:pic>
      <p:sp>
        <p:nvSpPr>
          <p:cNvPr id="6" name="Text 2"/>
          <p:cNvSpPr/>
          <p:nvPr/>
        </p:nvSpPr>
        <p:spPr>
          <a:xfrm>
            <a:off x="914400" y="2331720"/>
            <a:ext cx="10332720" cy="822960"/>
          </a:xfrm>
          <a:prstGeom prst="rect">
            <a:avLst/>
          </a:prstGeom>
          <a:noFill/>
          <a:ln/>
        </p:spPr>
        <p:txBody>
          <a:bodyPr wrap="square" rtlCol="0" anchor="ctr"/>
          <a:lstStyle/>
          <a:p>
            <a:pPr algn="ctr" indent="0" marL="0">
              <a:buNone/>
            </a:pPr>
            <a:r>
              <a:rPr lang="en-US" sz="4600" b="1" dirty="0">
                <a:solidFill>
                  <a:srgbClr val="FDFBF7"/>
                </a:solidFill>
                <a:latin typeface="Fraunces" pitchFamily="34" charset="0"/>
                <a:ea typeface="Fraunces" pitchFamily="34" charset="-122"/>
                <a:cs typeface="Fraunces" pitchFamily="34" charset="-120"/>
              </a:rPr>
              <a:t>Your BTC stays whole.</a:t>
            </a:r>
            <a:endParaRPr lang="en-US" sz="4600" dirty="0"/>
          </a:p>
        </p:txBody>
      </p:sp>
      <p:sp>
        <p:nvSpPr>
          <p:cNvPr id="7" name="Text 3"/>
          <p:cNvSpPr/>
          <p:nvPr/>
        </p:nvSpPr>
        <p:spPr>
          <a:xfrm>
            <a:off x="914400" y="3200400"/>
            <a:ext cx="10332720" cy="822960"/>
          </a:xfrm>
          <a:prstGeom prst="rect">
            <a:avLst/>
          </a:prstGeom>
          <a:noFill/>
          <a:ln/>
        </p:spPr>
        <p:txBody>
          <a:bodyPr wrap="square" rtlCol="0" anchor="ctr"/>
          <a:lstStyle/>
          <a:p>
            <a:pPr algn="ctr" indent="0" marL="0">
              <a:buNone/>
            </a:pPr>
            <a:r>
              <a:rPr lang="en-US" sz="4600" i="1" dirty="0">
                <a:solidFill>
                  <a:srgbClr val="CE8E50"/>
                </a:solidFill>
                <a:latin typeface="Fraunces" pitchFamily="34" charset="0"/>
                <a:ea typeface="Fraunces" pitchFamily="34" charset="-122"/>
                <a:cs typeface="Fraunces" pitchFamily="34" charset="-120"/>
              </a:rPr>
              <a:t>The Shadow is what you live on.</a:t>
            </a:r>
            <a:endParaRPr lang="en-US" sz="4600" dirty="0"/>
          </a:p>
        </p:txBody>
      </p:sp>
      <p:sp>
        <p:nvSpPr>
          <p:cNvPr id="8" name="Text 4"/>
          <p:cNvSpPr/>
          <p:nvPr/>
        </p:nvSpPr>
        <p:spPr>
          <a:xfrm>
            <a:off x="914400" y="4206240"/>
            <a:ext cx="10332720" cy="457200"/>
          </a:xfrm>
          <a:prstGeom prst="rect">
            <a:avLst/>
          </a:prstGeom>
          <a:noFill/>
          <a:ln/>
        </p:spPr>
        <p:txBody>
          <a:bodyPr wrap="square" rtlCol="0" anchor="ctr"/>
          <a:lstStyle/>
          <a:p>
            <a:pPr algn="ctr" indent="0" marL="0">
              <a:buNone/>
            </a:pPr>
            <a:r>
              <a:rPr lang="en-US" sz="1600" dirty="0">
                <a:solidFill>
                  <a:srgbClr val="FAF6F0"/>
                </a:solidFill>
                <a:latin typeface="Geist" pitchFamily="34" charset="0"/>
                <a:ea typeface="Geist" pitchFamily="34" charset="-122"/>
                <a:cs typeface="Geist" pitchFamily="34" charset="-120"/>
              </a:rPr>
              <a:t>Anti-liquidation proven · 5 auto-defends · verified on Mezo testnet</a:t>
            </a:r>
            <a:endParaRPr lang="en-US" sz="1600" dirty="0"/>
          </a:p>
        </p:txBody>
      </p:sp>
      <p:sp>
        <p:nvSpPr>
          <p:cNvPr id="9" name="Text 5"/>
          <p:cNvSpPr/>
          <p:nvPr/>
        </p:nvSpPr>
        <p:spPr>
          <a:xfrm>
            <a:off x="914400" y="6035040"/>
            <a:ext cx="10332720" cy="365760"/>
          </a:xfrm>
          <a:prstGeom prst="rect">
            <a:avLst/>
          </a:prstGeom>
          <a:noFill/>
          <a:ln/>
        </p:spPr>
        <p:txBody>
          <a:bodyPr wrap="square" rtlCol="0" anchor="ctr"/>
          <a:lstStyle/>
          <a:p>
            <a:pPr algn="ctr" indent="0" marL="0">
              <a:buNone/>
            </a:pPr>
            <a:r>
              <a:rPr lang="en-US" sz="1200" b="1" spc="100" kern="0" dirty="0">
                <a:solidFill>
                  <a:srgbClr val="FAF6F0"/>
                </a:solidFill>
                <a:latin typeface="Geist" pitchFamily="34" charset="0"/>
                <a:ea typeface="Geist" pitchFamily="34" charset="-122"/>
                <a:cs typeface="Geist" pitchFamily="34" charset="-120"/>
              </a:rPr>
              <a:t>cermin-gamma.vercel.app  ·  Supernormal × Mezo Hackathon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Cermin — Self-driving Bitcoin banking on Mezo</dc:title>
  <dc:subject>PptxGenJS Presentation</dc:subject>
  <dc:creator>Cermin</dc:creator>
  <cp:lastModifiedBy>Cermin</cp:lastModifiedBy>
  <cp:revision>1</cp:revision>
  <dcterms:created xsi:type="dcterms:W3CDTF">2026-05-25T10:41:26Z</dcterms:created>
  <dcterms:modified xsi:type="dcterms:W3CDTF">2026-05-25T10:41:26Z</dcterms:modified>
</cp:coreProperties>
</file>